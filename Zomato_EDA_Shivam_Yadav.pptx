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9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12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13.xml" ContentType="application/vnd.openxmlformats-officedocument.drawingml.chart+xml"/>
  <Override PartName="/ppt/charts/chart14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_rels/chart9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9.xlsx"/></Relationships>
</file>

<file path=ppt/charts/_rels/chart10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0.xlsx"/></Relationships>
</file>

<file path=ppt/charts/_rels/chart1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1.xlsx"/></Relationships>
</file>

<file path=ppt/charts/_rels/chart1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2.xlsx"/></Relationships>
</file>

<file path=ppt/charts/_rels/chart1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3.xlsx"/></Relationships>
</file>

<file path=ppt/charts/_rels/chart1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C1C2E"/>
                </a:solidFill>
                <a:latin typeface="Arial"/>
              </a:defRPr>
            </a:pPr>
            <a:r>
              <a:rPr sz="1300" b="0" i="0" u="none" strike="noStrike">
                <a:solidFill>
                  <a:srgbClr val="1C1C2E"/>
                </a:solidFill>
                <a:latin typeface="Arial"/>
              </a:rPr>
              <a:t>Rating Category Share (%)</a:t>
            </a:r>
          </a:p>
        </c:rich>
      </c:tx>
      <c:layout/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Rating Categories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22C55E"/>
              </a:solidFill>
              <a:effectLst/>
            </c:spPr>
          </c:dPt>
          <c:dPt>
            <c:idx val="1"/>
            <c:bubble3D val="0"/>
            <c:spPr>
              <a:solidFill>
                <a:srgbClr val="84CC16"/>
              </a:solidFill>
              <a:effectLst/>
            </c:spPr>
          </c:dPt>
          <c:dPt>
            <c:idx val="2"/>
            <c:bubble3D val="0"/>
            <c:spPr>
              <a:solidFill>
                <a:srgbClr val="F5A623"/>
              </a:solidFill>
              <a:effectLst/>
            </c:spPr>
          </c:dPt>
          <c:dPt>
            <c:idx val="3"/>
            <c:bubble3D val="0"/>
            <c:spPr>
              <a:solidFill>
                <a:srgbClr val="0D9488"/>
              </a:solidFill>
              <a:effectLst/>
            </c:spPr>
          </c:dPt>
          <c:dPt>
            <c:idx val="4"/>
            <c:bubble3D val="0"/>
            <c:spPr>
              <a:solidFill>
                <a:srgbClr val="EF4444"/>
              </a:solidFill>
              <a:effectLst/>
            </c:spPr>
          </c:dPt>
          <c:dPt>
            <c:idx val="5"/>
            <c:bubble3D val="0"/>
            <c:spPr>
              <a:solidFill>
                <a:srgbClr val="94A3B8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4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5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Sheet1!$A$2:$A$7</c:f>
              <c:strCache>
                <c:ptCount val="6"/>
                <c:pt idx="0">
                  <c:v>Very Good</c:v>
                </c:pt>
                <c:pt idx="1">
                  <c:v>Good</c:v>
                </c:pt>
                <c:pt idx="2">
                  <c:v>Average</c:v>
                </c:pt>
                <c:pt idx="3">
                  <c:v>Excellent</c:v>
                </c:pt>
                <c:pt idx="4">
                  <c:v>Poor</c:v>
                </c:pt>
                <c:pt idx="5">
                  <c:v>Not Rated</c:v>
                </c:pt>
              </c:strCache>
            </c:strRef>
          </c:cat>
          <c:val>
            <c:numRef>
              <c:f>Sheet1!$B$2:$B$7</c:f>
              <c:numCache>
                <c:ptCount val="6"/>
                <c:pt idx="0">
                  <c:v>45</c:v>
                </c:pt>
                <c:pt idx="1">
                  <c:v>25</c:v>
                </c:pt>
                <c:pt idx="2">
                  <c:v>15</c:v>
                </c:pt>
                <c:pt idx="3">
                  <c:v>10</c:v>
                </c:pt>
                <c:pt idx="4">
                  <c:v>3</c:v>
                </c:pt>
                <c:pt idx="5">
                  <c:v>2</c:v>
                </c:pt>
              </c:numCache>
            </c:numRef>
          </c:val>
        </c:ser>
        <c:firstSliceAng val="0"/>
        <c:holeSize val="55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C1C2E"/>
                </a:solidFill>
                <a:latin typeface="Arial"/>
              </a:defRPr>
            </a:pPr>
            <a:r>
              <a:rPr sz="1300" b="0" i="0" u="none" strike="noStrike">
                <a:solidFill>
                  <a:srgbClr val="1C1C2E"/>
                </a:solidFill>
                <a:latin typeface="Arial"/>
              </a:rPr>
              <a:t>Restaurant Count by Rating Band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Restaurants</c:v>
                </c:pt>
              </c:strCache>
            </c:strRef>
          </c:tx>
          <c:spPr>
            <a:solidFill>
              <a:srgbClr val="EF444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EF444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F97316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F5A623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22C55E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0D9488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3B82F6"/>
              </a:solidFill>
              <a:effectLst/>
            </c:spPr>
          </c:dPt>
          <c:cat>
            <c:multiLvlStrRef>
              <c:f>Sheet1!$A$2:$A$7</c:f>
              <c:multiLvlStrCache>
                <c:ptCount val="6"/>
                <c:lvl>
                  <c:pt idx="0">
                    <c:v>&lt; 2.5</c:v>
                  </c:pt>
                  <c:pt idx="1">
                    <c:v>2.5–3.0</c:v>
                  </c:pt>
                  <c:pt idx="2">
                    <c:v>3.0–3.5</c:v>
                  </c:pt>
                  <c:pt idx="3">
                    <c:v>3.5–4.0</c:v>
                  </c:pt>
                  <c:pt idx="4">
                    <c:v>4.0–4.5</c:v>
                  </c:pt>
                  <c:pt idx="5">
                    <c:v>4.5–5.0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2800</c:v>
                </c:pt>
                <c:pt idx="1">
                  <c:v>12000</c:v>
                </c:pt>
                <c:pt idx="2">
                  <c:v>38000</c:v>
                </c:pt>
                <c:pt idx="3">
                  <c:v>78000</c:v>
                </c:pt>
                <c:pt idx="4">
                  <c:v>62000</c:v>
                </c:pt>
                <c:pt idx="5">
                  <c:v>19000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C1C2E"/>
                </a:solidFill>
                <a:latin typeface="Arial"/>
              </a:defRPr>
            </a:pPr>
            <a:r>
              <a:rPr sz="1300" b="0" i="0" u="none" strike="noStrike">
                <a:solidFill>
                  <a:srgbClr val="1C1C2E"/>
                </a:solidFill>
                <a:latin typeface="Arial"/>
              </a:rPr>
              <a:t>Top 10 Cities — Restaurant Count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Restaurants</c:v>
                </c:pt>
              </c:strCache>
            </c:strRef>
          </c:tx>
          <c:spPr>
            <a:solidFill>
              <a:srgbClr val="E2374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E2374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E23744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E23744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F5A623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F5A623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F5A623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3B82F6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3B82F6"/>
              </a:solidFill>
              <a:effectLst/>
            </c:spPr>
          </c:dPt>
          <c:dPt>
            <c:idx val="8"/>
            <c:invertIfNegative val="0"/>
            <c:bubble3D val="0"/>
            <c:spPr>
              <a:solidFill>
                <a:srgbClr val="3B82F6"/>
              </a:solidFill>
              <a:effectLst/>
            </c:spPr>
          </c:dPt>
          <c:dPt>
            <c:idx val="9"/>
            <c:invertIfNegative val="0"/>
            <c:bubble3D val="0"/>
            <c:spPr>
              <a:solidFill>
                <a:srgbClr val="3B82F6"/>
              </a:solidFill>
              <a:effectLst/>
            </c:spPr>
          </c:dPt>
          <c:cat>
            <c:multiLvlStrRef>
              <c:f>Sheet1!$A$2:$A$11</c:f>
              <c:multiLvlStrCache>
                <c:ptCount val="10"/>
                <c:lvl>
                  <c:pt idx="0">
                    <c:v>New Delhi</c:v>
                  </c:pt>
                  <c:pt idx="1">
                    <c:v>Mumbai</c:v>
                  </c:pt>
                  <c:pt idx="2">
                    <c:v>Bangalore</c:v>
                  </c:pt>
                  <c:pt idx="3">
                    <c:v>Hyderabad</c:v>
                  </c:pt>
                  <c:pt idx="4">
                    <c:v>Chennai</c:v>
                  </c:pt>
                  <c:pt idx="5">
                    <c:v>Pune</c:v>
                  </c:pt>
                  <c:pt idx="6">
                    <c:v>Kolkata</c:v>
                  </c:pt>
                  <c:pt idx="7">
                    <c:v>Ahmedabad</c:v>
                  </c:pt>
                  <c:pt idx="8">
                    <c:v>Agra</c:v>
                  </c:pt>
                  <c:pt idx="9">
                    <c:v>Gurgaon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31000</c:v>
                </c:pt>
                <c:pt idx="1">
                  <c:v>28000</c:v>
                </c:pt>
                <c:pt idx="2">
                  <c:v>24000</c:v>
                </c:pt>
                <c:pt idx="3">
                  <c:v>18000</c:v>
                </c:pt>
                <c:pt idx="4">
                  <c:v>14000</c:v>
                </c:pt>
                <c:pt idx="5">
                  <c:v>12000</c:v>
                </c:pt>
                <c:pt idx="6">
                  <c:v>10000</c:v>
                </c:pt>
                <c:pt idx="7">
                  <c:v>8500</c:v>
                </c:pt>
                <c:pt idx="8">
                  <c:v>6200</c:v>
                </c:pt>
                <c:pt idx="9">
                  <c:v>5800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C1C2E"/>
                </a:solidFill>
                <a:latin typeface="Arial"/>
              </a:defRPr>
            </a:pPr>
            <a:r>
              <a:rPr sz="1300" b="0" i="0" u="none" strike="noStrike">
                <a:solidFill>
                  <a:srgbClr val="1C1C2E"/>
                </a:solidFill>
                <a:latin typeface="Arial"/>
              </a:rPr>
              <a:t>Avg Rating by City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Rating</c:v>
                </c:pt>
              </c:strCache>
            </c:strRef>
          </c:tx>
          <c:spPr>
            <a:solidFill>
              <a:srgbClr val="22C55E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22C55E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22C55E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22C55E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0D9488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0D9488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0D9488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F5A623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F5A623"/>
              </a:solidFill>
              <a:effectLst/>
            </c:spPr>
          </c:dPt>
          <c:dPt>
            <c:idx val="8"/>
            <c:invertIfNegative val="0"/>
            <c:bubble3D val="0"/>
            <c:spPr>
              <a:solidFill>
                <a:srgbClr val="EF4444"/>
              </a:solidFill>
              <a:effectLst/>
            </c:spPr>
          </c:dPt>
          <c:dPt>
            <c:idx val="9"/>
            <c:invertIfNegative val="0"/>
            <c:bubble3D val="0"/>
            <c:spPr>
              <a:solidFill>
                <a:srgbClr val="EF4444"/>
              </a:solidFill>
              <a:effectLst/>
            </c:spPr>
          </c:dPt>
          <c:cat>
            <c:multiLvlStrRef>
              <c:f>Sheet1!$A$2:$A$11</c:f>
              <c:multiLvlStrCache>
                <c:ptCount val="10"/>
                <c:lvl>
                  <c:pt idx="0">
                    <c:v>Agra</c:v>
                  </c:pt>
                  <c:pt idx="1">
                    <c:v>Gurgaon</c:v>
                  </c:pt>
                  <c:pt idx="2">
                    <c:v>Hyderabad</c:v>
                  </c:pt>
                  <c:pt idx="3">
                    <c:v>Pune</c:v>
                  </c:pt>
                  <c:pt idx="4">
                    <c:v>Bangalore</c:v>
                  </c:pt>
                  <c:pt idx="5">
                    <c:v>New Delhi</c:v>
                  </c:pt>
                  <c:pt idx="6">
                    <c:v>Chennai</c:v>
                  </c:pt>
                  <c:pt idx="7">
                    <c:v>Mumbai</c:v>
                  </c:pt>
                  <c:pt idx="8">
                    <c:v>Kolkata</c:v>
                  </c:pt>
                  <c:pt idx="9">
                    <c:v>Ahmedabad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4.28</c:v>
                </c:pt>
                <c:pt idx="1">
                  <c:v>4.22</c:v>
                </c:pt>
                <c:pt idx="2">
                  <c:v>4.18</c:v>
                </c:pt>
                <c:pt idx="3">
                  <c:v>4.15</c:v>
                </c:pt>
                <c:pt idx="4">
                  <c:v>4.12</c:v>
                </c:pt>
                <c:pt idx="5">
                  <c:v>4.09</c:v>
                </c:pt>
                <c:pt idx="6">
                  <c:v>4.05</c:v>
                </c:pt>
                <c:pt idx="7">
                  <c:v>4.01</c:v>
                </c:pt>
                <c:pt idx="8">
                  <c:v>3.96</c:v>
                </c:pt>
                <c:pt idx="9">
                  <c:v>3.91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9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C1C2E"/>
                </a:solidFill>
                <a:latin typeface="Arial"/>
              </a:defRPr>
            </a:pPr>
            <a:r>
              <a:rPr sz="1300" b="0" i="0" u="none" strike="noStrike">
                <a:solidFill>
                  <a:srgbClr val="1C1C2E"/>
                </a:solidFill>
                <a:latin typeface="Arial"/>
              </a:rPr>
              <a:t>Top 10 Most Popular Cuisines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Restaurants</c:v>
                </c:pt>
              </c:strCache>
            </c:strRef>
          </c:tx>
          <c:spPr>
            <a:solidFill>
              <a:srgbClr val="02809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28090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28090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28090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00A896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00A896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00A896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02C39A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02C39A"/>
              </a:solidFill>
              <a:effectLst/>
            </c:spPr>
          </c:dPt>
          <c:dPt>
            <c:idx val="8"/>
            <c:invertIfNegative val="0"/>
            <c:bubble3D val="0"/>
            <c:spPr>
              <a:solidFill>
                <a:srgbClr val="45B7AA"/>
              </a:solidFill>
              <a:effectLst/>
            </c:spPr>
          </c:dPt>
          <c:dPt>
            <c:idx val="9"/>
            <c:invertIfNegative val="0"/>
            <c:bubble3D val="0"/>
            <c:spPr>
              <a:solidFill>
                <a:srgbClr val="45B7AA"/>
              </a:solidFill>
              <a:effectLst/>
            </c:spPr>
          </c:dPt>
          <c:cat>
            <c:multiLvlStrRef>
              <c:f>Sheet1!$A$2:$A$11</c:f>
              <c:multiLvlStrCache>
                <c:ptCount val="10"/>
                <c:lvl>
                  <c:pt idx="0">
                    <c:v>North Indian</c:v>
                  </c:pt>
                  <c:pt idx="1">
                    <c:v>Chinese</c:v>
                  </c:pt>
                  <c:pt idx="2">
                    <c:v>Fast Food</c:v>
                  </c:pt>
                  <c:pt idx="3">
                    <c:v>Mughlai</c:v>
                  </c:pt>
                  <c:pt idx="4">
                    <c:v>South Indian</c:v>
                  </c:pt>
                  <c:pt idx="5">
                    <c:v>Street Food</c:v>
                  </c:pt>
                  <c:pt idx="6">
                    <c:v>Desserts</c:v>
                  </c:pt>
                  <c:pt idx="7">
                    <c:v>Bakery</c:v>
                  </c:pt>
                  <c:pt idx="8">
                    <c:v>Continental</c:v>
                  </c:pt>
                  <c:pt idx="9">
                    <c:v>Biryani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95000</c:v>
                </c:pt>
                <c:pt idx="1">
                  <c:v>68000</c:v>
                </c:pt>
                <c:pt idx="2">
                  <c:v>52000</c:v>
                </c:pt>
                <c:pt idx="3">
                  <c:v>38000</c:v>
                </c:pt>
                <c:pt idx="4">
                  <c:v>35000</c:v>
                </c:pt>
                <c:pt idx="5">
                  <c:v>29000</c:v>
                </c:pt>
                <c:pt idx="6">
                  <c:v>26000</c:v>
                </c:pt>
                <c:pt idx="7">
                  <c:v>22000</c:v>
                </c:pt>
                <c:pt idx="8">
                  <c:v>19000</c:v>
                </c:pt>
                <c:pt idx="9">
                  <c:v>17000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C1C2E"/>
                </a:solidFill>
                <a:latin typeface="Arial"/>
              </a:defRPr>
            </a:pPr>
            <a:r>
              <a:rPr sz="1200" b="0" i="0" u="none" strike="noStrike">
                <a:solidFill>
                  <a:srgbClr val="1C1C2E"/>
                </a:solidFill>
                <a:latin typeface="Arial"/>
              </a:rPr>
              <a:t>Cuisine Variety vs Avg Rating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Rating</c:v>
                </c:pt>
              </c:strCache>
            </c:strRef>
          </c:tx>
          <c:spPr>
            <a:solidFill>
              <a:srgbClr val="028090"/>
            </a:solidFill>
            <a:ln w="38100" cap="flat">
              <a:solidFill>
                <a:srgbClr val="028090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028090"/>
              </a:solidFill>
              <a:ln w="9525" cap="flat">
                <a:solidFill>
                  <a:srgbClr val="028090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Sheet1!$A$2:$A$9</c:f>
              <c:multiLvlStrCache>
                <c:ptCount val="8"/>
                <c:lvl>
                  <c:pt idx="0">
                    <c:v>1</c:v>
                  </c:pt>
                  <c:pt idx="1">
                    <c:v>2</c:v>
                  </c:pt>
                  <c:pt idx="2">
                    <c:v>3</c:v>
                  </c:pt>
                  <c:pt idx="3">
                    <c:v>4</c:v>
                  </c:pt>
                  <c:pt idx="4">
                    <c:v>5</c:v>
                  </c:pt>
                  <c:pt idx="5">
                    <c:v>6</c:v>
                  </c:pt>
                  <c:pt idx="6">
                    <c:v>7</c:v>
                  </c:pt>
                  <c:pt idx="7">
                    <c:v>8+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3.45</c:v>
                </c:pt>
                <c:pt idx="1">
                  <c:v>3.72</c:v>
                </c:pt>
                <c:pt idx="2">
                  <c:v>3.95</c:v>
                </c:pt>
                <c:pt idx="3">
                  <c:v>4.08</c:v>
                </c:pt>
                <c:pt idx="4">
                  <c:v>4.12</c:v>
                </c:pt>
                <c:pt idx="5">
                  <c:v>4.1</c:v>
                </c:pt>
                <c:pt idx="6">
                  <c:v>4.05</c:v>
                </c:pt>
                <c:pt idx="7">
                  <c:v>3.98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C1C2E"/>
                </a:solidFill>
                <a:latin typeface="Arial"/>
              </a:defRPr>
            </a:pPr>
            <a:r>
              <a:rPr sz="1300" b="0" i="0" u="none" strike="noStrike">
                <a:solidFill>
                  <a:srgbClr val="1C1C2E"/>
                </a:solidFill>
                <a:latin typeface="Arial"/>
              </a:rPr>
              <a:t>Average Rating by Price Category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Rating</c:v>
                </c:pt>
              </c:strCache>
            </c:strRef>
          </c:tx>
          <c:spPr>
            <a:solidFill>
              <a:srgbClr val="3B82F6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3B82F6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D9488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F5A623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8B5CF6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Budget (₹)</c:v>
                  </c:pt>
                  <c:pt idx="1">
                    <c:v>Moderate (₹₹)</c:v>
                  </c:pt>
                  <c:pt idx="2">
                    <c:v>Expensive (₹₹₹)</c:v>
                  </c:pt>
                  <c:pt idx="3">
                    <c:v>Luxury (₹₹₹₹)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3.65</c:v>
                </c:pt>
                <c:pt idx="1">
                  <c:v>3.92</c:v>
                </c:pt>
                <c:pt idx="2">
                  <c:v>4.18</c:v>
                </c:pt>
                <c:pt idx="3">
                  <c:v>4.41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11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C1C2E"/>
                </a:solidFill>
                <a:latin typeface="Arial"/>
              </a:defRPr>
            </a:pPr>
            <a:r>
              <a:rPr sz="1300" b="0" i="0" u="none" strike="noStrike">
                <a:solidFill>
                  <a:srgbClr val="1C1C2E"/>
                </a:solidFill>
                <a:latin typeface="Arial"/>
              </a:rPr>
              <a:t>Average Cost for Two (₹)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Cost for Two (₹)</c:v>
                </c:pt>
              </c:strCache>
            </c:strRef>
          </c:tx>
          <c:spPr>
            <a:solidFill>
              <a:srgbClr val="3B82F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3B82F6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D9488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F5A623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8B5CF6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Budget</c:v>
                  </c:pt>
                  <c:pt idx="1">
                    <c:v>Moderate</c:v>
                  </c:pt>
                  <c:pt idx="2">
                    <c:v>Expensive</c:v>
                  </c:pt>
                  <c:pt idx="3">
                    <c:v>Luxury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280</c:v>
                </c:pt>
                <c:pt idx="1">
                  <c:v>650</c:v>
                </c:pt>
                <c:pt idx="2">
                  <c:v>1400</c:v>
                </c:pt>
                <c:pt idx="3">
                  <c:v>3200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C1C2E"/>
                </a:solidFill>
                <a:latin typeface="Arial"/>
              </a:defRPr>
            </a:pPr>
            <a:r>
              <a:rPr sz="1300" b="0" i="0" u="none" strike="noStrike">
                <a:solidFill>
                  <a:srgbClr val="1C1C2E"/>
                </a:solidFill>
                <a:latin typeface="Arial"/>
              </a:rPr>
              <a:t>Avg Rating: With vs Without Online Services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With Feature</c:v>
                </c:pt>
              </c:strCache>
            </c:strRef>
          </c:tx>
          <c:spPr>
            <a:solidFill>
              <a:srgbClr val="E23744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Delivery</c:v>
                  </c:pt>
                  <c:pt idx="1">
                    <c:v>Takeaway</c:v>
                  </c:pt>
                  <c:pt idx="2">
                    <c:v>Both Services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4.05</c:v>
                </c:pt>
                <c:pt idx="1">
                  <c:v>4.01</c:v>
                </c:pt>
                <c:pt idx="2">
                  <c:v>4.12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Without Feature</c:v>
                </c:pt>
              </c:strCache>
            </c:strRef>
          </c:tx>
          <c:spPr>
            <a:solidFill>
              <a:srgbClr val="94A3B8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Delivery</c:v>
                  </c:pt>
                  <c:pt idx="1">
                    <c:v>Takeaway</c:v>
                  </c:pt>
                  <c:pt idx="2">
                    <c:v>Both Services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3.78</c:v>
                </c:pt>
                <c:pt idx="1">
                  <c:v>3.82</c:v>
                </c:pt>
                <c:pt idx="2">
                  <c:v>3.71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9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C1C2E"/>
                </a:solidFill>
                <a:latin typeface="Arial"/>
              </a:defRPr>
            </a:pPr>
            <a:r>
              <a:rPr sz="1300" b="0" i="0" u="none" strike="noStrike">
                <a:solidFill>
                  <a:srgbClr val="1C1C2E"/>
                </a:solidFill>
                <a:latin typeface="Arial"/>
              </a:rPr>
              <a:t>Top 10 Chains by Number of Outlets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Outlets</c:v>
                </c:pt>
              </c:strCache>
            </c:strRef>
          </c:tx>
          <c:spPr>
            <a:solidFill>
              <a:srgbClr val="F5A623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F5A623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F5A623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F5A623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F5A623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F5A623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F5A623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E8960F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E8960F"/>
              </a:solidFill>
              <a:effectLst/>
            </c:spPr>
          </c:dPt>
          <c:dPt>
            <c:idx val="8"/>
            <c:invertIfNegative val="0"/>
            <c:bubble3D val="0"/>
            <c:spPr>
              <a:solidFill>
                <a:srgbClr val="E8960F"/>
              </a:solidFill>
              <a:effectLst/>
            </c:spPr>
          </c:dPt>
          <c:dPt>
            <c:idx val="9"/>
            <c:invertIfNegative val="0"/>
            <c:bubble3D val="0"/>
            <c:spPr>
              <a:solidFill>
                <a:srgbClr val="E8960F"/>
              </a:solidFill>
              <a:effectLst/>
            </c:spPr>
          </c:dPt>
          <c:cat>
            <c:multiLvlStrRef>
              <c:f>Sheet1!$A$2:$A$11</c:f>
              <c:multiLvlStrCache>
                <c:ptCount val="10"/>
                <c:lvl>
                  <c:pt idx="0">
                    <c:v>Domino's Pizza</c:v>
                  </c:pt>
                  <c:pt idx="1">
                    <c:v>McDonald's</c:v>
                  </c:pt>
                  <c:pt idx="2">
                    <c:v>Subway</c:v>
                  </c:pt>
                  <c:pt idx="3">
                    <c:v>KFC</c:v>
                  </c:pt>
                  <c:pt idx="4">
                    <c:v>Pizza Hut</c:v>
                  </c:pt>
                  <c:pt idx="5">
                    <c:v>Burger King</c:v>
                  </c:pt>
                  <c:pt idx="6">
                    <c:v>Bikanervala</c:v>
                  </c:pt>
                  <c:pt idx="7">
                    <c:v>Haldiram's</c:v>
                  </c:pt>
                  <c:pt idx="8">
                    <c:v>Café Coffee Day</c:v>
                  </c:pt>
                  <c:pt idx="9">
                    <c:v>Baskin Robbins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890</c:v>
                </c:pt>
                <c:pt idx="1">
                  <c:v>740</c:v>
                </c:pt>
                <c:pt idx="2">
                  <c:v>680</c:v>
                </c:pt>
                <c:pt idx="3">
                  <c:v>560</c:v>
                </c:pt>
                <c:pt idx="4">
                  <c:v>490</c:v>
                </c:pt>
                <c:pt idx="5">
                  <c:v>420</c:v>
                </c:pt>
                <c:pt idx="6">
                  <c:v>380</c:v>
                </c:pt>
                <c:pt idx="7">
                  <c:v>340</c:v>
                </c:pt>
                <c:pt idx="8">
                  <c:v>310</c:v>
                </c:pt>
                <c:pt idx="9">
                  <c:v>280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C1C2E"/>
                </a:solidFill>
                <a:latin typeface="Arial"/>
              </a:defRPr>
            </a:pPr>
            <a:r>
              <a:rPr sz="1200" b="0" i="0" u="none" strike="noStrike">
                <a:solidFill>
                  <a:srgbClr val="1C1C2E"/>
                </a:solidFill>
                <a:latin typeface="Arial"/>
              </a:rPr>
              <a:t>Avg Rating of Top Chains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Rating</c:v>
                </c:pt>
              </c:strCache>
            </c:strRef>
          </c:tx>
          <c:spPr>
            <a:solidFill>
              <a:srgbClr val="22C55E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22C55E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22C55E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22C55E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0D9488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0D9488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0D9488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F5A623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F5A623"/>
              </a:solidFill>
              <a:effectLst/>
            </c:spPr>
          </c:dPt>
          <c:dPt>
            <c:idx val="8"/>
            <c:invertIfNegative val="0"/>
            <c:bubble3D val="0"/>
            <c:spPr>
              <a:solidFill>
                <a:srgbClr val="EF4444"/>
              </a:solidFill>
              <a:effectLst/>
            </c:spPr>
          </c:dPt>
          <c:dPt>
            <c:idx val="9"/>
            <c:invertIfNegative val="0"/>
            <c:bubble3D val="0"/>
            <c:spPr>
              <a:solidFill>
                <a:srgbClr val="EF4444"/>
              </a:solidFill>
              <a:effectLst/>
            </c:spPr>
          </c:dPt>
          <c:cat>
            <c:multiLvlStrRef>
              <c:f>Sheet1!$A$2:$A$11</c:f>
              <c:multiLvlStrCache>
                <c:ptCount val="10"/>
                <c:lvl>
                  <c:pt idx="0">
                    <c:v>Haldiram's</c:v>
                  </c:pt>
                  <c:pt idx="1">
                    <c:v>Bikanervala</c:v>
                  </c:pt>
                  <c:pt idx="2">
                    <c:v>Burger King</c:v>
                  </c:pt>
                  <c:pt idx="3">
                    <c:v>McDonald's</c:v>
                  </c:pt>
                  <c:pt idx="4">
                    <c:v>KFC</c:v>
                  </c:pt>
                  <c:pt idx="5">
                    <c:v>Domino's Pizza</c:v>
                  </c:pt>
                  <c:pt idx="6">
                    <c:v>Pizza Hut</c:v>
                  </c:pt>
                  <c:pt idx="7">
                    <c:v>Subway</c:v>
                  </c:pt>
                  <c:pt idx="8">
                    <c:v>Café Coffee Day</c:v>
                  </c:pt>
                  <c:pt idx="9">
                    <c:v>Baskin Robbins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4.42</c:v>
                </c:pt>
                <c:pt idx="1">
                  <c:v>4.35</c:v>
                </c:pt>
                <c:pt idx="2">
                  <c:v>4.2</c:v>
                </c:pt>
                <c:pt idx="3">
                  <c:v>4.12</c:v>
                </c:pt>
                <c:pt idx="4">
                  <c:v>4.08</c:v>
                </c:pt>
                <c:pt idx="5">
                  <c:v>4.05</c:v>
                </c:pt>
                <c:pt idx="6">
                  <c:v>3.98</c:v>
                </c:pt>
                <c:pt idx="7">
                  <c:v>3.95</c:v>
                </c:pt>
                <c:pt idx="8">
                  <c:v>3.82</c:v>
                </c:pt>
                <c:pt idx="9">
                  <c:v>3.78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9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C1C2E"/>
                </a:solidFill>
                <a:latin typeface="Arial"/>
              </a:defRPr>
            </a:pPr>
            <a:r>
              <a:rPr sz="1300" b="0" i="0" u="none" strike="noStrike">
                <a:solidFill>
                  <a:srgbClr val="1C1C2E"/>
                </a:solidFill>
                <a:latin typeface="Arial"/>
              </a:rPr>
              <a:t>Rating Impact of Key Features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With Feature</c:v>
                </c:pt>
              </c:strCache>
            </c:strRef>
          </c:tx>
          <c:spPr>
            <a:solidFill>
              <a:srgbClr val="3B82F6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Air Con</c:v>
                  </c:pt>
                  <c:pt idx="1">
                    <c:v>Credit Card</c:v>
                  </c:pt>
                  <c:pt idx="2">
                    <c:v>Alcohol</c:v>
                  </c:pt>
                  <c:pt idx="3">
                    <c:v>Wi-Fi</c:v>
                  </c:pt>
                  <c:pt idx="4">
                    <c:v>Outdoor Seating</c:v>
                  </c:pt>
                  <c:pt idx="5">
                    <c:v>Pure Veg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4.22</c:v>
                </c:pt>
                <c:pt idx="1">
                  <c:v>4.18</c:v>
                </c:pt>
                <c:pt idx="2">
                  <c:v>4.15</c:v>
                </c:pt>
                <c:pt idx="3">
                  <c:v>4.09</c:v>
                </c:pt>
                <c:pt idx="4">
                  <c:v>3.98</c:v>
                </c:pt>
                <c:pt idx="5">
                  <c:v>3.88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Without Feature</c:v>
                </c:pt>
              </c:strCache>
            </c:strRef>
          </c:tx>
          <c:spPr>
            <a:solidFill>
              <a:srgbClr val="CBD5E1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Air Con</c:v>
                  </c:pt>
                  <c:pt idx="1">
                    <c:v>Credit Card</c:v>
                  </c:pt>
                  <c:pt idx="2">
                    <c:v>Alcohol</c:v>
                  </c:pt>
                  <c:pt idx="3">
                    <c:v>Wi-Fi</c:v>
                  </c:pt>
                  <c:pt idx="4">
                    <c:v>Outdoor Seating</c:v>
                  </c:pt>
                  <c:pt idx="5">
                    <c:v>Pure Veg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3.74</c:v>
                </c:pt>
                <c:pt idx="1">
                  <c:v>3.76</c:v>
                </c:pt>
                <c:pt idx="2">
                  <c:v>3.81</c:v>
                </c:pt>
                <c:pt idx="3">
                  <c:v>3.84</c:v>
                </c:pt>
                <c:pt idx="4">
                  <c:v>3.9</c:v>
                </c:pt>
                <c:pt idx="5">
                  <c:v>4.05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8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C1C2E"/>
                </a:solidFill>
                <a:latin typeface="Arial"/>
              </a:defRPr>
            </a:pPr>
            <a:r>
              <a:rPr sz="1300" b="0" i="0" u="none" strike="noStrike">
                <a:solidFill>
                  <a:srgbClr val="1C1C2E"/>
                </a:solidFill>
                <a:latin typeface="Arial"/>
              </a:rPr>
              <a:t>Average Rating vs Vote Count Bracket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Rating</c:v>
                </c:pt>
              </c:strCache>
            </c:strRef>
          </c:tx>
          <c:spPr>
            <a:solidFill>
              <a:srgbClr val="1C1C2E"/>
            </a:solidFill>
            <a:ln w="38100" cap="flat">
              <a:solidFill>
                <a:srgbClr val="1C1C2E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1C1C2E"/>
              </a:solidFill>
              <a:ln w="9525" cap="flat">
                <a:solidFill>
                  <a:srgbClr val="1C1C2E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0–50</c:v>
                  </c:pt>
                  <c:pt idx="1">
                    <c:v>51–200</c:v>
                  </c:pt>
                  <c:pt idx="2">
                    <c:v>201–500</c:v>
                  </c:pt>
                  <c:pt idx="3">
                    <c:v>501–1K</c:v>
                  </c:pt>
                  <c:pt idx="4">
                    <c:v>1K–5K</c:v>
                  </c:pt>
                  <c:pt idx="5">
                    <c:v>5K+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3.42</c:v>
                </c:pt>
                <c:pt idx="1">
                  <c:v>3.68</c:v>
                </c:pt>
                <c:pt idx="2">
                  <c:v>3.88</c:v>
                </c:pt>
                <c:pt idx="3">
                  <c:v>4.02</c:v>
                </c:pt>
                <c:pt idx="4">
                  <c:v>4.21</c:v>
                </c:pt>
                <c:pt idx="5">
                  <c:v>4.38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C1C2E"/>
                </a:solidFill>
                <a:latin typeface="Arial"/>
              </a:defRPr>
            </a:pPr>
            <a:r>
              <a:rPr sz="1200" b="0" i="0" u="none" strike="noStrike">
                <a:solidFill>
                  <a:srgbClr val="1C1C2E"/>
                </a:solidFill>
                <a:latin typeface="Arial"/>
              </a:rPr>
              <a:t>Rating vs Number of Photos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Rating</c:v>
                </c:pt>
              </c:strCache>
            </c:strRef>
          </c:tx>
          <c:spPr>
            <a:solidFill>
              <a:srgbClr val="E23744"/>
            </a:solidFill>
            <a:ln w="38100" cap="flat">
              <a:solidFill>
                <a:srgbClr val="E23744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E23744"/>
              </a:solidFill>
              <a:ln w="9525" cap="flat">
                <a:solidFill>
                  <a:srgbClr val="E23744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0 photos</c:v>
                  </c:pt>
                  <c:pt idx="1">
                    <c:v>1–5</c:v>
                  </c:pt>
                  <c:pt idx="2">
                    <c:v>6–20</c:v>
                  </c:pt>
                  <c:pt idx="3">
                    <c:v>21–50</c:v>
                  </c:pt>
                  <c:pt idx="4">
                    <c:v>51–100</c:v>
                  </c:pt>
                  <c:pt idx="5">
                    <c:v>100+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3.38</c:v>
                </c:pt>
                <c:pt idx="1">
                  <c:v>3.72</c:v>
                </c:pt>
                <c:pt idx="2">
                  <c:v>3.95</c:v>
                </c:pt>
                <c:pt idx="3">
                  <c:v>4.14</c:v>
                </c:pt>
                <c:pt idx="4">
                  <c:v>4.28</c:v>
                </c:pt>
                <c:pt idx="5">
                  <c:v>4.42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image" Target="../media/image-2-9.png"/><Relationship Id="rId10" Type="http://schemas.openxmlformats.org/officeDocument/2006/relationships/image" Target="../media/image-2-10.png"/><Relationship Id="rId11" Type="http://schemas.openxmlformats.org/officeDocument/2006/relationships/image" Target="../media/image-2-11.png"/><Relationship Id="rId12" Type="http://schemas.openxmlformats.org/officeDocument/2006/relationships/image" Target="../media/image-2-12.png"/><Relationship Id="rId13" Type="http://schemas.openxmlformats.org/officeDocument/2006/relationships/image" Target="../media/image-2-13.png"/><Relationship Id="rId14" Type="http://schemas.openxmlformats.org/officeDocument/2006/relationships/image" Target="../media/image-2-14.png"/><Relationship Id="rId15" Type="http://schemas.openxmlformats.org/officeDocument/2006/relationships/image" Target="../media/image-2-15.png"/><Relationship Id="rId16" Type="http://schemas.openxmlformats.org/officeDocument/2006/relationships/image" Target="../media/image-2-16.png"/><Relationship Id="rId17" Type="http://schemas.openxmlformats.org/officeDocument/2006/relationships/slideLayout" Target="../slideLayouts/slideLayout1.xml"/><Relationship Id="rId1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image" Target="../media/image-4-1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3.xml"/><Relationship Id="rId3" Type="http://schemas.openxmlformats.org/officeDocument/2006/relationships/chart" Target="/ppt/charts/chart4.xml"/><Relationship Id="rId1" Type="http://schemas.openxmlformats.org/officeDocument/2006/relationships/image" Target="../media/image-5-1.png"/><Relationship Id="rId4" Type="http://schemas.openxmlformats.org/officeDocument/2006/relationships/image" Target="../media/image-5-2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5.xml"/><Relationship Id="rId3" Type="http://schemas.openxmlformats.org/officeDocument/2006/relationships/chart" Target="/ppt/charts/chart6.xml"/><Relationship Id="rId1" Type="http://schemas.openxmlformats.org/officeDocument/2006/relationships/image" Target="../media/image-6-1.png"/><Relationship Id="rId4" Type="http://schemas.openxmlformats.org/officeDocument/2006/relationships/image" Target="../media/image-6-2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7.xml"/><Relationship Id="rId3" Type="http://schemas.openxmlformats.org/officeDocument/2006/relationships/chart" Target="/ppt/charts/chart8.xml"/><Relationship Id="rId1" Type="http://schemas.openxmlformats.org/officeDocument/2006/relationships/image" Target="../media/image-7-1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9.xml"/><Relationship Id="rId1" Type="http://schemas.openxmlformats.org/officeDocument/2006/relationships/image" Target="../media/image-8-1.png"/><Relationship Id="rId3" Type="http://schemas.openxmlformats.org/officeDocument/2006/relationships/image" Target="../media/image-8-2.png"/><Relationship Id="rId4" Type="http://schemas.openxmlformats.org/officeDocument/2006/relationships/image" Target="../media/image-8-3.png"/><Relationship Id="rId5" Type="http://schemas.openxmlformats.org/officeDocument/2006/relationships/image" Target="../media/image-8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10.xml"/><Relationship Id="rId3" Type="http://schemas.openxmlformats.org/officeDocument/2006/relationships/chart" Target="/ppt/charts/chart11.xml"/><Relationship Id="rId1" Type="http://schemas.openxmlformats.org/officeDocument/2006/relationships/image" Target="../media/image-9-1.png"/><Relationship Id="rId4" Type="http://schemas.openxmlformats.org/officeDocument/2006/relationships/image" Target="../media/image-9-2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2.xml"/><Relationship Id="rId2" Type="http://schemas.openxmlformats.org/officeDocument/2006/relationships/image" Target="../media/image-10-1.png"/><Relationship Id="rId3" Type="http://schemas.openxmlformats.org/officeDocument/2006/relationships/image" Target="../media/image-10-2.png"/><Relationship Id="rId4" Type="http://schemas.openxmlformats.org/officeDocument/2006/relationships/image" Target="../media/image-10-3.png"/><Relationship Id="rId5" Type="http://schemas.openxmlformats.org/officeDocument/2006/relationships/image" Target="../media/image-10-4.png"/><Relationship Id="rId6" Type="http://schemas.openxmlformats.org/officeDocument/2006/relationships/image" Target="../media/image-10-5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13.xml"/><Relationship Id="rId3" Type="http://schemas.openxmlformats.org/officeDocument/2006/relationships/chart" Target="/ppt/charts/chart14.xml"/><Relationship Id="rId1" Type="http://schemas.openxmlformats.org/officeDocument/2006/relationships/image" Target="../media/image-11-1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image" Target="../media/image-12-6.png"/><Relationship Id="rId7" Type="http://schemas.openxmlformats.org/officeDocument/2006/relationships/image" Target="../media/image-12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1C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0" cy="6858000"/>
          </a:xfrm>
          <a:prstGeom prst="rect">
            <a:avLst/>
          </a:prstGeom>
          <a:solidFill>
            <a:srgbClr val="E23744"/>
          </a:solidFill>
          <a:ln/>
        </p:spPr>
      </p:sp>
      <p:sp>
        <p:nvSpPr>
          <p:cNvPr id="3" name="Shape 1"/>
          <p:cNvSpPr/>
          <p:nvPr/>
        </p:nvSpPr>
        <p:spPr>
          <a:xfrm>
            <a:off x="3474720" y="0"/>
            <a:ext cx="1097280" cy="6858000"/>
          </a:xfrm>
          <a:prstGeom prst="rect">
            <a:avLst/>
          </a:prstGeom>
          <a:solidFill>
            <a:srgbClr val="B52D38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0" y="1371600"/>
            <a:ext cx="1828800" cy="18288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14400" y="33832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800" kern="0" dirty="0">
                <a:solidFill>
                  <a:srgbClr val="FFFFFF"/>
                </a:solidFill>
              </a:rPr>
              <a:t>ZOMATO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4754880" y="822960"/>
            <a:ext cx="6858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</a:rPr>
              <a:t>Restaurant Success</a:t>
            </a:r>
            <a:endParaRPr lang="en-US" sz="3800" dirty="0"/>
          </a:p>
        </p:txBody>
      </p:sp>
      <p:sp>
        <p:nvSpPr>
          <p:cNvPr id="7" name="Text 4"/>
          <p:cNvSpPr/>
          <p:nvPr/>
        </p:nvSpPr>
        <p:spPr>
          <a:xfrm>
            <a:off x="4754880" y="1508760"/>
            <a:ext cx="6858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5A623"/>
                </a:solidFill>
              </a:rPr>
              <a:t>Factors Analysis</a:t>
            </a:r>
            <a:endParaRPr lang="en-US" sz="3800" dirty="0"/>
          </a:p>
        </p:txBody>
      </p:sp>
      <p:sp>
        <p:nvSpPr>
          <p:cNvPr id="8" name="Shape 5"/>
          <p:cNvSpPr/>
          <p:nvPr/>
        </p:nvSpPr>
        <p:spPr>
          <a:xfrm>
            <a:off x="4754880" y="2331720"/>
            <a:ext cx="5029200" cy="36576"/>
          </a:xfrm>
          <a:prstGeom prst="rect">
            <a:avLst/>
          </a:prstGeom>
          <a:solidFill>
            <a:srgbClr val="FFFFFF">
              <a:alpha val="40000"/>
            </a:srgbClr>
          </a:solidFill>
          <a:ln/>
        </p:spPr>
      </p:sp>
      <p:sp>
        <p:nvSpPr>
          <p:cNvPr id="9" name="Text 6"/>
          <p:cNvSpPr/>
          <p:nvPr/>
        </p:nvSpPr>
        <p:spPr>
          <a:xfrm>
            <a:off x="4754880" y="2514600"/>
            <a:ext cx="6858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400" i="1" dirty="0">
                <a:solidFill>
                  <a:srgbClr val="C8D0E0"/>
                </a:solidFill>
              </a:rPr>
              <a:t>Exploratory Data Analysis on Indian Restaurants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i="1" dirty="0">
                <a:solidFill>
                  <a:srgbClr val="C8D0E0"/>
                </a:solidFill>
              </a:rPr>
              <a:t>Zomato Dataset — 2,11,944 Restaurants across India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4754880" y="3657600"/>
            <a:ext cx="1645920" cy="1280160"/>
          </a:xfrm>
          <a:prstGeom prst="rect">
            <a:avLst/>
          </a:prstGeom>
          <a:solidFill>
            <a:srgbClr val="FFFFFF">
              <a:alpha val="12000"/>
            </a:srgbClr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4754880" y="3703320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5A623"/>
                </a:solidFill>
              </a:rPr>
              <a:t>2,11,944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4754880" y="4279392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8D0E0"/>
                </a:solidFill>
              </a:rPr>
              <a:t>Restaurants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6583680" y="3657600"/>
            <a:ext cx="1645920" cy="1280160"/>
          </a:xfrm>
          <a:prstGeom prst="rect">
            <a:avLst/>
          </a:prstGeom>
          <a:solidFill>
            <a:srgbClr val="FFFFFF">
              <a:alpha val="12000"/>
            </a:srgbClr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6583680" y="3703320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5A623"/>
                </a:solidFill>
              </a:rPr>
              <a:t>26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6583680" y="4279392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8D0E0"/>
                </a:solidFill>
              </a:rPr>
              <a:t>Columns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8412480" y="3657600"/>
            <a:ext cx="1645920" cy="1280160"/>
          </a:xfrm>
          <a:prstGeom prst="rect">
            <a:avLst/>
          </a:prstGeom>
          <a:solidFill>
            <a:srgbClr val="FFFFFF">
              <a:alpha val="12000"/>
            </a:srgbClr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8412480" y="3703320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5A623"/>
                </a:solidFill>
              </a:rPr>
              <a:t>100+</a:t>
            </a:r>
            <a:endParaRPr lang="en-US" sz="1800" dirty="0"/>
          </a:p>
        </p:txBody>
      </p:sp>
      <p:sp>
        <p:nvSpPr>
          <p:cNvPr id="18" name="Text 15"/>
          <p:cNvSpPr/>
          <p:nvPr/>
        </p:nvSpPr>
        <p:spPr>
          <a:xfrm>
            <a:off x="8412480" y="4279392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8D0E0"/>
                </a:solidFill>
              </a:rPr>
              <a:t>Cities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10241280" y="3657600"/>
            <a:ext cx="1645920" cy="1280160"/>
          </a:xfrm>
          <a:prstGeom prst="rect">
            <a:avLst/>
          </a:prstGeom>
          <a:solidFill>
            <a:srgbClr val="FFFFFF">
              <a:alpha val="12000"/>
            </a:srgbClr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7"/>
          <p:cNvSpPr/>
          <p:nvPr/>
        </p:nvSpPr>
        <p:spPr>
          <a:xfrm>
            <a:off x="10241280" y="3703320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5A623"/>
                </a:solidFill>
              </a:rPr>
              <a:t>3.5–4.5</a:t>
            </a:r>
            <a:endParaRPr lang="en-US" sz="1800" dirty="0"/>
          </a:p>
        </p:txBody>
      </p:sp>
      <p:sp>
        <p:nvSpPr>
          <p:cNvPr id="21" name="Text 18"/>
          <p:cNvSpPr/>
          <p:nvPr/>
        </p:nvSpPr>
        <p:spPr>
          <a:xfrm>
            <a:off x="10241280" y="4279392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8D0E0"/>
                </a:solidFill>
              </a:rPr>
              <a:t>Typical Rating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4754880" y="5212080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A623"/>
                </a:solidFill>
              </a:rPr>
              <a:t>Presented by  Shivam Yadav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4754880" y="557784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9A8C0"/>
                </a:solidFill>
              </a:rPr>
              <a:t>Data Analytics Project  |  SkillCircle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77240"/>
          </a:xfrm>
          <a:prstGeom prst="rect">
            <a:avLst/>
          </a:prstGeom>
          <a:solidFill>
            <a:srgbClr val="1C1C2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9144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FFFFFF"/>
                </a:solidFill>
              </a:rPr>
              <a:t>PROJECT OVERVIEW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0" y="0"/>
            <a:ext cx="12161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5A623"/>
                </a:solidFill>
              </a:rPr>
              <a:t>What This Project Covers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91440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334155"/>
                </a:solidFill>
              </a:rPr>
              <a:t>This project performs an in-depth Exploratory Data Analysis (EDA) on Zomato's Indian restaurant dataset to uncover the key factors that make a restaurant successful — as measured by its star rating.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920240"/>
            <a:ext cx="2651760" cy="1920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920240"/>
            <a:ext cx="2651760" cy="64008"/>
          </a:xfrm>
          <a:prstGeom prst="rect">
            <a:avLst/>
          </a:prstGeom>
          <a:solidFill>
            <a:srgbClr val="E23744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2103120"/>
            <a:ext cx="384048" cy="384048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566928" y="2075688"/>
            <a:ext cx="438912" cy="438912"/>
          </a:xfrm>
          <a:prstGeom prst="ellipse">
            <a:avLst/>
          </a:prstGeom>
          <a:solidFill>
            <a:srgbClr val="E23744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" y="2121408"/>
            <a:ext cx="329184" cy="32918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48640" y="260604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1C2E"/>
                </a:solidFill>
              </a:rPr>
              <a:t>Data Overview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548640" y="297180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4748B"/>
                </a:solidFill>
              </a:rPr>
              <a:t>Structure, types &amp; missing values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3291840" y="1920240"/>
            <a:ext cx="2651760" cy="1920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3291840" y="1920240"/>
            <a:ext cx="2651760" cy="64008"/>
          </a:xfrm>
          <a:prstGeom prst="rect">
            <a:avLst/>
          </a:prstGeom>
          <a:solidFill>
            <a:srgbClr val="3B82F6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9000" y="2103120"/>
            <a:ext cx="384048" cy="384048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3401568" y="2075688"/>
            <a:ext cx="438912" cy="438912"/>
          </a:xfrm>
          <a:prstGeom prst="ellipse">
            <a:avLst/>
          </a:prstGeom>
          <a:solidFill>
            <a:srgbClr val="3B82F6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56432" y="2121408"/>
            <a:ext cx="329184" cy="329184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3383280" y="260604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1C2E"/>
                </a:solidFill>
              </a:rPr>
              <a:t>Location Analysis</a:t>
            </a:r>
            <a:endParaRPr lang="en-US" sz="1200" dirty="0"/>
          </a:p>
        </p:txBody>
      </p:sp>
      <p:sp>
        <p:nvSpPr>
          <p:cNvPr id="19" name="Text 13"/>
          <p:cNvSpPr/>
          <p:nvPr/>
        </p:nvSpPr>
        <p:spPr>
          <a:xfrm>
            <a:off x="3383280" y="297180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4748B"/>
                </a:solidFill>
              </a:rPr>
              <a:t>Cities, geography &amp; ratings map</a:t>
            </a:r>
            <a:endParaRPr lang="en-US" sz="1000" dirty="0"/>
          </a:p>
        </p:txBody>
      </p:sp>
      <p:sp>
        <p:nvSpPr>
          <p:cNvPr id="20" name="Shape 14"/>
          <p:cNvSpPr/>
          <p:nvPr/>
        </p:nvSpPr>
        <p:spPr>
          <a:xfrm>
            <a:off x="6126480" y="1920240"/>
            <a:ext cx="2651760" cy="1920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5"/>
          <p:cNvSpPr/>
          <p:nvPr/>
        </p:nvSpPr>
        <p:spPr>
          <a:xfrm>
            <a:off x="6126480" y="1920240"/>
            <a:ext cx="2651760" cy="64008"/>
          </a:xfrm>
          <a:prstGeom prst="rect">
            <a:avLst/>
          </a:prstGeom>
          <a:solidFill>
            <a:srgbClr val="0D9488"/>
          </a:solidFill>
          <a:ln/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63640" y="2103120"/>
            <a:ext cx="384048" cy="384048"/>
          </a:xfrm>
          <a:prstGeom prst="rect">
            <a:avLst/>
          </a:prstGeom>
        </p:spPr>
      </p:pic>
      <p:sp>
        <p:nvSpPr>
          <p:cNvPr id="23" name="Shape 16"/>
          <p:cNvSpPr/>
          <p:nvPr/>
        </p:nvSpPr>
        <p:spPr>
          <a:xfrm>
            <a:off x="6236208" y="2075688"/>
            <a:ext cx="438912" cy="438912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2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91072" y="2121408"/>
            <a:ext cx="329184" cy="329184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6217920" y="260604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1C2E"/>
                </a:solidFill>
              </a:rPr>
              <a:t>Cuisine Analysis</a:t>
            </a:r>
            <a:endParaRPr lang="en-US" sz="1200" dirty="0"/>
          </a:p>
        </p:txBody>
      </p:sp>
      <p:sp>
        <p:nvSpPr>
          <p:cNvPr id="26" name="Text 18"/>
          <p:cNvSpPr/>
          <p:nvPr/>
        </p:nvSpPr>
        <p:spPr>
          <a:xfrm>
            <a:off x="6217920" y="297180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4748B"/>
                </a:solidFill>
              </a:rPr>
              <a:t>Popular cuisines &amp; variety vs rating</a:t>
            </a:r>
            <a:endParaRPr lang="en-US" sz="1000" dirty="0"/>
          </a:p>
        </p:txBody>
      </p:sp>
      <p:sp>
        <p:nvSpPr>
          <p:cNvPr id="27" name="Shape 19"/>
          <p:cNvSpPr/>
          <p:nvPr/>
        </p:nvSpPr>
        <p:spPr>
          <a:xfrm>
            <a:off x="8961120" y="1920240"/>
            <a:ext cx="2651760" cy="1920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Shape 20"/>
          <p:cNvSpPr/>
          <p:nvPr/>
        </p:nvSpPr>
        <p:spPr>
          <a:xfrm>
            <a:off x="8961120" y="1920240"/>
            <a:ext cx="2651760" cy="64008"/>
          </a:xfrm>
          <a:prstGeom prst="rect">
            <a:avLst/>
          </a:prstGeom>
          <a:solidFill>
            <a:srgbClr val="8B5CF6"/>
          </a:solidFill>
          <a:ln/>
        </p:spPr>
      </p:sp>
      <p:pic>
        <p:nvPicPr>
          <p:cNvPr id="29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098280" y="2103120"/>
            <a:ext cx="384048" cy="384048"/>
          </a:xfrm>
          <a:prstGeom prst="rect">
            <a:avLst/>
          </a:prstGeom>
        </p:spPr>
      </p:pic>
      <p:sp>
        <p:nvSpPr>
          <p:cNvPr id="30" name="Shape 21"/>
          <p:cNvSpPr/>
          <p:nvPr/>
        </p:nvSpPr>
        <p:spPr>
          <a:xfrm>
            <a:off x="9070848" y="2075688"/>
            <a:ext cx="438912" cy="438912"/>
          </a:xfrm>
          <a:prstGeom prst="ellipse">
            <a:avLst/>
          </a:prstGeom>
          <a:solidFill>
            <a:srgbClr val="8B5CF6"/>
          </a:solidFill>
          <a:ln/>
        </p:spPr>
      </p:sp>
      <p:pic>
        <p:nvPicPr>
          <p:cNvPr id="31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125712" y="2121408"/>
            <a:ext cx="329184" cy="329184"/>
          </a:xfrm>
          <a:prstGeom prst="rect">
            <a:avLst/>
          </a:prstGeom>
        </p:spPr>
      </p:pic>
      <p:sp>
        <p:nvSpPr>
          <p:cNvPr id="32" name="Text 22"/>
          <p:cNvSpPr/>
          <p:nvPr/>
        </p:nvSpPr>
        <p:spPr>
          <a:xfrm>
            <a:off x="9052560" y="260604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1C2E"/>
                </a:solidFill>
              </a:rPr>
              <a:t>Price &amp; Rating</a:t>
            </a:r>
            <a:endParaRPr lang="en-US" sz="1200" dirty="0"/>
          </a:p>
        </p:txBody>
      </p:sp>
      <p:sp>
        <p:nvSpPr>
          <p:cNvPr id="33" name="Text 23"/>
          <p:cNvSpPr/>
          <p:nvPr/>
        </p:nvSpPr>
        <p:spPr>
          <a:xfrm>
            <a:off x="9052560" y="297180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4748B"/>
                </a:solidFill>
              </a:rPr>
              <a:t>How cost affects success</a:t>
            </a:r>
            <a:endParaRPr lang="en-US" sz="1000" dirty="0"/>
          </a:p>
        </p:txBody>
      </p:sp>
      <p:sp>
        <p:nvSpPr>
          <p:cNvPr id="34" name="Shape 24"/>
          <p:cNvSpPr/>
          <p:nvPr/>
        </p:nvSpPr>
        <p:spPr>
          <a:xfrm>
            <a:off x="457200" y="4069080"/>
            <a:ext cx="2651760" cy="1920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5" name="Shape 25"/>
          <p:cNvSpPr/>
          <p:nvPr/>
        </p:nvSpPr>
        <p:spPr>
          <a:xfrm>
            <a:off x="457200" y="4069080"/>
            <a:ext cx="2651760" cy="64008"/>
          </a:xfrm>
          <a:prstGeom prst="rect">
            <a:avLst/>
          </a:prstGeom>
          <a:solidFill>
            <a:srgbClr val="E23744"/>
          </a:solidFill>
          <a:ln/>
        </p:spPr>
      </p:sp>
      <p:pic>
        <p:nvPicPr>
          <p:cNvPr id="36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94360" y="4251960"/>
            <a:ext cx="384048" cy="384048"/>
          </a:xfrm>
          <a:prstGeom prst="rect">
            <a:avLst/>
          </a:prstGeom>
        </p:spPr>
      </p:pic>
      <p:sp>
        <p:nvSpPr>
          <p:cNvPr id="37" name="Shape 26"/>
          <p:cNvSpPr/>
          <p:nvPr/>
        </p:nvSpPr>
        <p:spPr>
          <a:xfrm>
            <a:off x="566928" y="4224528"/>
            <a:ext cx="438912" cy="438912"/>
          </a:xfrm>
          <a:prstGeom prst="ellipse">
            <a:avLst/>
          </a:prstGeom>
          <a:solidFill>
            <a:srgbClr val="E23744"/>
          </a:solidFill>
          <a:ln/>
        </p:spPr>
      </p:sp>
      <p:pic>
        <p:nvPicPr>
          <p:cNvPr id="38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21792" y="4270248"/>
            <a:ext cx="329184" cy="329184"/>
          </a:xfrm>
          <a:prstGeom prst="rect">
            <a:avLst/>
          </a:prstGeom>
        </p:spPr>
      </p:pic>
      <p:sp>
        <p:nvSpPr>
          <p:cNvPr id="39" name="Text 27"/>
          <p:cNvSpPr/>
          <p:nvPr/>
        </p:nvSpPr>
        <p:spPr>
          <a:xfrm>
            <a:off x="548640" y="475488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1C2E"/>
                </a:solidFill>
              </a:rPr>
              <a:t>Online Services</a:t>
            </a:r>
            <a:endParaRPr lang="en-US" sz="1200" dirty="0"/>
          </a:p>
        </p:txBody>
      </p:sp>
      <p:sp>
        <p:nvSpPr>
          <p:cNvPr id="40" name="Text 28"/>
          <p:cNvSpPr/>
          <p:nvPr/>
        </p:nvSpPr>
        <p:spPr>
          <a:xfrm>
            <a:off x="548640" y="512064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4748B"/>
                </a:solidFill>
              </a:rPr>
              <a:t>Delivery &amp; takeaway impact</a:t>
            </a:r>
            <a:endParaRPr lang="en-US" sz="1000" dirty="0"/>
          </a:p>
        </p:txBody>
      </p:sp>
      <p:sp>
        <p:nvSpPr>
          <p:cNvPr id="41" name="Shape 29"/>
          <p:cNvSpPr/>
          <p:nvPr/>
        </p:nvSpPr>
        <p:spPr>
          <a:xfrm>
            <a:off x="3291840" y="4069080"/>
            <a:ext cx="2651760" cy="1920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2" name="Shape 30"/>
          <p:cNvSpPr/>
          <p:nvPr/>
        </p:nvSpPr>
        <p:spPr>
          <a:xfrm>
            <a:off x="3291840" y="4069080"/>
            <a:ext cx="2651760" cy="64008"/>
          </a:xfrm>
          <a:prstGeom prst="rect">
            <a:avLst/>
          </a:prstGeom>
          <a:solidFill>
            <a:srgbClr val="F5A623"/>
          </a:solidFill>
          <a:ln/>
        </p:spPr>
      </p:sp>
      <p:pic>
        <p:nvPicPr>
          <p:cNvPr id="43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429000" y="4251960"/>
            <a:ext cx="384048" cy="384048"/>
          </a:xfrm>
          <a:prstGeom prst="rect">
            <a:avLst/>
          </a:prstGeom>
        </p:spPr>
      </p:pic>
      <p:sp>
        <p:nvSpPr>
          <p:cNvPr id="44" name="Shape 31"/>
          <p:cNvSpPr/>
          <p:nvPr/>
        </p:nvSpPr>
        <p:spPr>
          <a:xfrm>
            <a:off x="3401568" y="4224528"/>
            <a:ext cx="438912" cy="438912"/>
          </a:xfrm>
          <a:prstGeom prst="ellipse">
            <a:avLst/>
          </a:prstGeom>
          <a:solidFill>
            <a:srgbClr val="F5A623"/>
          </a:solidFill>
          <a:ln/>
        </p:spPr>
      </p:sp>
      <p:pic>
        <p:nvPicPr>
          <p:cNvPr id="45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456432" y="4270248"/>
            <a:ext cx="329184" cy="329184"/>
          </a:xfrm>
          <a:prstGeom prst="rect">
            <a:avLst/>
          </a:prstGeom>
        </p:spPr>
      </p:pic>
      <p:sp>
        <p:nvSpPr>
          <p:cNvPr id="46" name="Text 32"/>
          <p:cNvSpPr/>
          <p:nvPr/>
        </p:nvSpPr>
        <p:spPr>
          <a:xfrm>
            <a:off x="3383280" y="475488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1C2E"/>
                </a:solidFill>
              </a:rPr>
              <a:t>Top Chains</a:t>
            </a:r>
            <a:endParaRPr lang="en-US" sz="1200" dirty="0"/>
          </a:p>
        </p:txBody>
      </p:sp>
      <p:sp>
        <p:nvSpPr>
          <p:cNvPr id="47" name="Text 33"/>
          <p:cNvSpPr/>
          <p:nvPr/>
        </p:nvSpPr>
        <p:spPr>
          <a:xfrm>
            <a:off x="3383280" y="512064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4748B"/>
                </a:solidFill>
              </a:rPr>
              <a:t>Dominant brands &amp; outlet counts</a:t>
            </a:r>
            <a:endParaRPr lang="en-US" sz="1000" dirty="0"/>
          </a:p>
        </p:txBody>
      </p:sp>
      <p:sp>
        <p:nvSpPr>
          <p:cNvPr id="48" name="Shape 34"/>
          <p:cNvSpPr/>
          <p:nvPr/>
        </p:nvSpPr>
        <p:spPr>
          <a:xfrm>
            <a:off x="6126480" y="4069080"/>
            <a:ext cx="2651760" cy="1920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9" name="Shape 35"/>
          <p:cNvSpPr/>
          <p:nvPr/>
        </p:nvSpPr>
        <p:spPr>
          <a:xfrm>
            <a:off x="6126480" y="4069080"/>
            <a:ext cx="2651760" cy="64008"/>
          </a:xfrm>
          <a:prstGeom prst="rect">
            <a:avLst/>
          </a:prstGeom>
          <a:solidFill>
            <a:srgbClr val="3B82F6"/>
          </a:solidFill>
          <a:ln/>
        </p:spPr>
      </p:sp>
      <p:pic>
        <p:nvPicPr>
          <p:cNvPr id="50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263640" y="4251960"/>
            <a:ext cx="384048" cy="384048"/>
          </a:xfrm>
          <a:prstGeom prst="rect">
            <a:avLst/>
          </a:prstGeom>
        </p:spPr>
      </p:pic>
      <p:sp>
        <p:nvSpPr>
          <p:cNvPr id="51" name="Shape 36"/>
          <p:cNvSpPr/>
          <p:nvPr/>
        </p:nvSpPr>
        <p:spPr>
          <a:xfrm>
            <a:off x="6236208" y="4224528"/>
            <a:ext cx="438912" cy="438912"/>
          </a:xfrm>
          <a:prstGeom prst="ellipse">
            <a:avLst/>
          </a:prstGeom>
          <a:solidFill>
            <a:srgbClr val="3B82F6"/>
          </a:solidFill>
          <a:ln/>
        </p:spPr>
      </p:sp>
      <p:pic>
        <p:nvPicPr>
          <p:cNvPr id="52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291072" y="4270248"/>
            <a:ext cx="329184" cy="329184"/>
          </a:xfrm>
          <a:prstGeom prst="rect">
            <a:avLst/>
          </a:prstGeom>
        </p:spPr>
      </p:pic>
      <p:sp>
        <p:nvSpPr>
          <p:cNvPr id="53" name="Text 37"/>
          <p:cNvSpPr/>
          <p:nvPr/>
        </p:nvSpPr>
        <p:spPr>
          <a:xfrm>
            <a:off x="6217920" y="475488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1C2E"/>
                </a:solidFill>
              </a:rPr>
              <a:t>Features Impact</a:t>
            </a:r>
            <a:endParaRPr lang="en-US" sz="1200" dirty="0"/>
          </a:p>
        </p:txBody>
      </p:sp>
      <p:sp>
        <p:nvSpPr>
          <p:cNvPr id="54" name="Text 38"/>
          <p:cNvSpPr/>
          <p:nvPr/>
        </p:nvSpPr>
        <p:spPr>
          <a:xfrm>
            <a:off x="6217920" y="512064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4748B"/>
                </a:solidFill>
              </a:rPr>
              <a:t>Wi-Fi, AC, Alcohol correlation</a:t>
            </a:r>
            <a:endParaRPr lang="en-US" sz="1000" dirty="0"/>
          </a:p>
        </p:txBody>
      </p:sp>
      <p:sp>
        <p:nvSpPr>
          <p:cNvPr id="55" name="Shape 39"/>
          <p:cNvSpPr/>
          <p:nvPr/>
        </p:nvSpPr>
        <p:spPr>
          <a:xfrm>
            <a:off x="8961120" y="4069080"/>
            <a:ext cx="2651760" cy="1920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6" name="Shape 40"/>
          <p:cNvSpPr/>
          <p:nvPr/>
        </p:nvSpPr>
        <p:spPr>
          <a:xfrm>
            <a:off x="8961120" y="4069080"/>
            <a:ext cx="2651760" cy="64008"/>
          </a:xfrm>
          <a:prstGeom prst="rect">
            <a:avLst/>
          </a:prstGeom>
          <a:solidFill>
            <a:srgbClr val="22C55E"/>
          </a:solidFill>
          <a:ln/>
        </p:spPr>
      </p:sp>
      <p:pic>
        <p:nvPicPr>
          <p:cNvPr id="57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9098280" y="4251960"/>
            <a:ext cx="384048" cy="384048"/>
          </a:xfrm>
          <a:prstGeom prst="rect">
            <a:avLst/>
          </a:prstGeom>
        </p:spPr>
      </p:pic>
      <p:sp>
        <p:nvSpPr>
          <p:cNvPr id="58" name="Shape 41"/>
          <p:cNvSpPr/>
          <p:nvPr/>
        </p:nvSpPr>
        <p:spPr>
          <a:xfrm>
            <a:off x="9070848" y="4224528"/>
            <a:ext cx="438912" cy="438912"/>
          </a:xfrm>
          <a:prstGeom prst="ellipse">
            <a:avLst/>
          </a:prstGeom>
          <a:solidFill>
            <a:srgbClr val="22C55E"/>
          </a:solidFill>
          <a:ln/>
        </p:spPr>
      </p:sp>
      <p:pic>
        <p:nvPicPr>
          <p:cNvPr id="59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9125712" y="4270248"/>
            <a:ext cx="329184" cy="329184"/>
          </a:xfrm>
          <a:prstGeom prst="rect">
            <a:avLst/>
          </a:prstGeom>
        </p:spPr>
      </p:pic>
      <p:sp>
        <p:nvSpPr>
          <p:cNvPr id="60" name="Text 42"/>
          <p:cNvSpPr/>
          <p:nvPr/>
        </p:nvSpPr>
        <p:spPr>
          <a:xfrm>
            <a:off x="9052560" y="475488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1C2E"/>
                </a:solidFill>
              </a:rPr>
              <a:t>Key Insights</a:t>
            </a:r>
            <a:endParaRPr lang="en-US" sz="1200" dirty="0"/>
          </a:p>
        </p:txBody>
      </p:sp>
      <p:sp>
        <p:nvSpPr>
          <p:cNvPr id="61" name="Text 43"/>
          <p:cNvSpPr/>
          <p:nvPr/>
        </p:nvSpPr>
        <p:spPr>
          <a:xfrm>
            <a:off x="9052560" y="512064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4748B"/>
                </a:solidFill>
              </a:rPr>
              <a:t>Conclusions &amp; recommendations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77240"/>
          </a:xfrm>
          <a:prstGeom prst="rect">
            <a:avLst/>
          </a:prstGeom>
          <a:solidFill>
            <a:srgbClr val="1C1C2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9144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FFFFFF"/>
                </a:solidFill>
              </a:rPr>
              <a:t>DATA OVERVIEW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2103120" cy="1463040"/>
          </a:xfrm>
          <a:prstGeom prst="rect">
            <a:avLst/>
          </a:prstGeom>
          <a:solidFill>
            <a:srgbClr val="E23744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105156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2,11,944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365760" y="173736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Total Restaurants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651760" y="960120"/>
            <a:ext cx="2103120" cy="1463040"/>
          </a:xfrm>
          <a:prstGeom prst="rect">
            <a:avLst/>
          </a:prstGeom>
          <a:solidFill>
            <a:srgbClr val="3B82F6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651760" y="105156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26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2651760" y="173736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Features/Columns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937760" y="960120"/>
            <a:ext cx="2103120" cy="1463040"/>
          </a:xfrm>
          <a:prstGeom prst="rect">
            <a:avLst/>
          </a:prstGeom>
          <a:solidFill>
            <a:srgbClr val="0D9488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937760" y="105156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100+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937760" y="173736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Cities Covered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223760" y="960120"/>
            <a:ext cx="2103120" cy="1463040"/>
          </a:xfrm>
          <a:prstGeom prst="rect">
            <a:avLst/>
          </a:prstGeom>
          <a:solidFill>
            <a:srgbClr val="22C55E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223760" y="105156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0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7223760" y="173736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Duplicate Rows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9509760" y="960120"/>
            <a:ext cx="2103120" cy="1463040"/>
          </a:xfrm>
          <a:prstGeom prst="rect">
            <a:avLst/>
          </a:prstGeom>
          <a:solidFill>
            <a:srgbClr val="F5A623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9509760" y="105156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~3%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9509760" y="173736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Missing Data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57200" y="26060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1C2E"/>
                </a:solidFill>
              </a:rPr>
              <a:t>Key Dataset Columns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57200" y="3200400"/>
            <a:ext cx="109728" cy="109728"/>
          </a:xfrm>
          <a:prstGeom prst="rect">
            <a:avLst/>
          </a:prstGeom>
          <a:solidFill>
            <a:srgbClr val="E23744"/>
          </a:solidFill>
          <a:ln/>
        </p:spPr>
      </p:sp>
      <p:sp>
        <p:nvSpPr>
          <p:cNvPr id="21" name="Text 19"/>
          <p:cNvSpPr/>
          <p:nvPr/>
        </p:nvSpPr>
        <p:spPr>
          <a:xfrm>
            <a:off x="685800" y="3063240"/>
            <a:ext cx="5303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</a:rPr>
              <a:t>res_id — Unique restaurant ID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457200" y="3730752"/>
            <a:ext cx="109728" cy="109728"/>
          </a:xfrm>
          <a:prstGeom prst="rect">
            <a:avLst/>
          </a:prstGeom>
          <a:solidFill>
            <a:srgbClr val="E23744"/>
          </a:solidFill>
          <a:ln/>
        </p:spPr>
      </p:sp>
      <p:sp>
        <p:nvSpPr>
          <p:cNvPr id="23" name="Text 21"/>
          <p:cNvSpPr/>
          <p:nvPr/>
        </p:nvSpPr>
        <p:spPr>
          <a:xfrm>
            <a:off x="685800" y="3593592"/>
            <a:ext cx="5303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</a:rPr>
              <a:t>name — Restaurant name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457200" y="4261104"/>
            <a:ext cx="109728" cy="109728"/>
          </a:xfrm>
          <a:prstGeom prst="rect">
            <a:avLst/>
          </a:prstGeom>
          <a:solidFill>
            <a:srgbClr val="E23744"/>
          </a:solidFill>
          <a:ln/>
        </p:spPr>
      </p:sp>
      <p:sp>
        <p:nvSpPr>
          <p:cNvPr id="25" name="Text 23"/>
          <p:cNvSpPr/>
          <p:nvPr/>
        </p:nvSpPr>
        <p:spPr>
          <a:xfrm>
            <a:off x="685800" y="4123944"/>
            <a:ext cx="5303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</a:rPr>
              <a:t>city — City of operation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457200" y="4791456"/>
            <a:ext cx="109728" cy="109728"/>
          </a:xfrm>
          <a:prstGeom prst="rect">
            <a:avLst/>
          </a:prstGeom>
          <a:solidFill>
            <a:srgbClr val="E23744"/>
          </a:solidFill>
          <a:ln/>
        </p:spPr>
      </p:sp>
      <p:sp>
        <p:nvSpPr>
          <p:cNvPr id="27" name="Text 25"/>
          <p:cNvSpPr/>
          <p:nvPr/>
        </p:nvSpPr>
        <p:spPr>
          <a:xfrm>
            <a:off x="685800" y="4654296"/>
            <a:ext cx="5303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</a:rPr>
              <a:t>cuisines — Cuisines offered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457200" y="5321808"/>
            <a:ext cx="109728" cy="109728"/>
          </a:xfrm>
          <a:prstGeom prst="rect">
            <a:avLst/>
          </a:prstGeom>
          <a:solidFill>
            <a:srgbClr val="E23744"/>
          </a:solidFill>
          <a:ln/>
        </p:spPr>
      </p:sp>
      <p:sp>
        <p:nvSpPr>
          <p:cNvPr id="29" name="Text 27"/>
          <p:cNvSpPr/>
          <p:nvPr/>
        </p:nvSpPr>
        <p:spPr>
          <a:xfrm>
            <a:off x="685800" y="5184648"/>
            <a:ext cx="5303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</a:rPr>
              <a:t>average_cost_for_two — Dining cost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457200" y="5852160"/>
            <a:ext cx="109728" cy="109728"/>
          </a:xfrm>
          <a:prstGeom prst="rect">
            <a:avLst/>
          </a:prstGeom>
          <a:solidFill>
            <a:srgbClr val="E23744"/>
          </a:solidFill>
          <a:ln/>
        </p:spPr>
      </p:sp>
      <p:sp>
        <p:nvSpPr>
          <p:cNvPr id="31" name="Text 29"/>
          <p:cNvSpPr/>
          <p:nvPr/>
        </p:nvSpPr>
        <p:spPr>
          <a:xfrm>
            <a:off x="685800" y="5715000"/>
            <a:ext cx="5303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</a:rPr>
              <a:t>price_range — 1 (Budget) to 4 (Luxury)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6217920" y="3200400"/>
            <a:ext cx="109728" cy="109728"/>
          </a:xfrm>
          <a:prstGeom prst="rect">
            <a:avLst/>
          </a:prstGeom>
          <a:solidFill>
            <a:srgbClr val="E23744"/>
          </a:solidFill>
          <a:ln/>
        </p:spPr>
      </p:sp>
      <p:sp>
        <p:nvSpPr>
          <p:cNvPr id="33" name="Text 31"/>
          <p:cNvSpPr/>
          <p:nvPr/>
        </p:nvSpPr>
        <p:spPr>
          <a:xfrm>
            <a:off x="6446520" y="3063240"/>
            <a:ext cx="5303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</a:rPr>
              <a:t>aggregate_rating — Star rating (0–5)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6217920" y="3730752"/>
            <a:ext cx="109728" cy="109728"/>
          </a:xfrm>
          <a:prstGeom prst="rect">
            <a:avLst/>
          </a:prstGeom>
          <a:solidFill>
            <a:srgbClr val="E23744"/>
          </a:solidFill>
          <a:ln/>
        </p:spPr>
      </p:sp>
      <p:sp>
        <p:nvSpPr>
          <p:cNvPr id="35" name="Text 33"/>
          <p:cNvSpPr/>
          <p:nvPr/>
        </p:nvSpPr>
        <p:spPr>
          <a:xfrm>
            <a:off x="6446520" y="3593592"/>
            <a:ext cx="5303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</a:rPr>
              <a:t>rating_text — Very Good / Good etc.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6217920" y="4261104"/>
            <a:ext cx="109728" cy="109728"/>
          </a:xfrm>
          <a:prstGeom prst="rect">
            <a:avLst/>
          </a:prstGeom>
          <a:solidFill>
            <a:srgbClr val="E23744"/>
          </a:solidFill>
          <a:ln/>
        </p:spPr>
      </p:sp>
      <p:sp>
        <p:nvSpPr>
          <p:cNvPr id="37" name="Text 35"/>
          <p:cNvSpPr/>
          <p:nvPr/>
        </p:nvSpPr>
        <p:spPr>
          <a:xfrm>
            <a:off x="6446520" y="4123944"/>
            <a:ext cx="5303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</a:rPr>
              <a:t>votes — Number of user votes</a:t>
            </a: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6217920" y="4791456"/>
            <a:ext cx="109728" cy="109728"/>
          </a:xfrm>
          <a:prstGeom prst="rect">
            <a:avLst/>
          </a:prstGeom>
          <a:solidFill>
            <a:srgbClr val="E23744"/>
          </a:solidFill>
          <a:ln/>
        </p:spPr>
      </p:sp>
      <p:sp>
        <p:nvSpPr>
          <p:cNvPr id="39" name="Text 37"/>
          <p:cNvSpPr/>
          <p:nvPr/>
        </p:nvSpPr>
        <p:spPr>
          <a:xfrm>
            <a:off x="6446520" y="4654296"/>
            <a:ext cx="5303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</a:rPr>
              <a:t>highlights — Features like Wi-Fi, AC</a:t>
            </a:r>
            <a:endParaRPr lang="en-US" sz="1150" dirty="0"/>
          </a:p>
        </p:txBody>
      </p:sp>
      <p:sp>
        <p:nvSpPr>
          <p:cNvPr id="40" name="Shape 38"/>
          <p:cNvSpPr/>
          <p:nvPr/>
        </p:nvSpPr>
        <p:spPr>
          <a:xfrm>
            <a:off x="6217920" y="5321808"/>
            <a:ext cx="109728" cy="109728"/>
          </a:xfrm>
          <a:prstGeom prst="rect">
            <a:avLst/>
          </a:prstGeom>
          <a:solidFill>
            <a:srgbClr val="E23744"/>
          </a:solidFill>
          <a:ln/>
        </p:spPr>
      </p:sp>
      <p:sp>
        <p:nvSpPr>
          <p:cNvPr id="41" name="Text 39"/>
          <p:cNvSpPr/>
          <p:nvPr/>
        </p:nvSpPr>
        <p:spPr>
          <a:xfrm>
            <a:off x="6446520" y="5184648"/>
            <a:ext cx="5303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</a:rPr>
              <a:t>delivery — Delivery available (1/0)</a:t>
            </a:r>
            <a:endParaRPr lang="en-US" sz="1150" dirty="0"/>
          </a:p>
        </p:txBody>
      </p:sp>
      <p:sp>
        <p:nvSpPr>
          <p:cNvPr id="42" name="Shape 40"/>
          <p:cNvSpPr/>
          <p:nvPr/>
        </p:nvSpPr>
        <p:spPr>
          <a:xfrm>
            <a:off x="6217920" y="5852160"/>
            <a:ext cx="109728" cy="109728"/>
          </a:xfrm>
          <a:prstGeom prst="rect">
            <a:avLst/>
          </a:prstGeom>
          <a:solidFill>
            <a:srgbClr val="E23744"/>
          </a:solidFill>
          <a:ln/>
        </p:spPr>
      </p:sp>
      <p:sp>
        <p:nvSpPr>
          <p:cNvPr id="43" name="Text 41"/>
          <p:cNvSpPr/>
          <p:nvPr/>
        </p:nvSpPr>
        <p:spPr>
          <a:xfrm>
            <a:off x="6446520" y="5715000"/>
            <a:ext cx="5303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</a:rPr>
              <a:t>takeaway — Takeaway available (1/0)</a:t>
            </a:r>
            <a:endParaRPr lang="en-US" sz="1150" dirty="0"/>
          </a:p>
        </p:txBody>
      </p:sp>
      <p:sp>
        <p:nvSpPr>
          <p:cNvPr id="44" name="Shape 42"/>
          <p:cNvSpPr/>
          <p:nvPr/>
        </p:nvSpPr>
        <p:spPr>
          <a:xfrm>
            <a:off x="365760" y="6263640"/>
            <a:ext cx="11430000" cy="457200"/>
          </a:xfrm>
          <a:prstGeom prst="rect">
            <a:avLst/>
          </a:prstGeom>
          <a:solidFill>
            <a:srgbClr val="F0F4FF"/>
          </a:solidFill>
          <a:ln/>
        </p:spPr>
      </p:sp>
      <p:pic>
        <p:nvPicPr>
          <p:cNvPr id="4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6309360"/>
            <a:ext cx="292608" cy="292608"/>
          </a:xfrm>
          <a:prstGeom prst="rect">
            <a:avLst/>
          </a:prstGeom>
        </p:spPr>
      </p:pic>
      <p:sp>
        <p:nvSpPr>
          <p:cNvPr id="46" name="Text 43"/>
          <p:cNvSpPr/>
          <p:nvPr/>
        </p:nvSpPr>
        <p:spPr>
          <a:xfrm>
            <a:off x="914400" y="626364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The dataset is rich and largely clean — after removing ~3% missing values and 0 duplicates, all 2,11,944 restaurants are ready for analysis.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77240"/>
          </a:xfrm>
          <a:prstGeom prst="rect">
            <a:avLst/>
          </a:prstGeom>
          <a:solidFill>
            <a:srgbClr val="E2374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9144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FFFFFF"/>
                </a:solidFill>
              </a:rPr>
              <a:t>RATING DISTRIBUTION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0" y="0"/>
            <a:ext cx="11704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FFD0D4"/>
                </a:solidFill>
              </a:rPr>
              <a:t>How restaurants are rated overall</a:t>
            </a:r>
            <a:endParaRPr lang="en-US" sz="12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365760" y="914400"/>
          <a:ext cx="4572000" cy="4114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6" name="Chart 1" descr=""/>
          <p:cNvGraphicFramePr/>
          <p:nvPr/>
        </p:nvGraphicFramePr>
        <p:xfrm>
          <a:off x="5303520" y="914400"/>
          <a:ext cx="6400800" cy="4114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Shape 3"/>
          <p:cNvSpPr/>
          <p:nvPr/>
        </p:nvSpPr>
        <p:spPr>
          <a:xfrm>
            <a:off x="365760" y="5212080"/>
            <a:ext cx="1417320" cy="1188720"/>
          </a:xfrm>
          <a:prstGeom prst="rect">
            <a:avLst/>
          </a:prstGeom>
          <a:solidFill>
            <a:srgbClr val="22C55E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Text 4"/>
          <p:cNvSpPr/>
          <p:nvPr/>
        </p:nvSpPr>
        <p:spPr>
          <a:xfrm>
            <a:off x="365760" y="5285232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3.9 ★</a:t>
            </a:r>
            <a:endParaRPr lang="en-US" sz="1800" dirty="0"/>
          </a:p>
        </p:txBody>
      </p:sp>
      <p:sp>
        <p:nvSpPr>
          <p:cNvPr id="9" name="Text 5"/>
          <p:cNvSpPr/>
          <p:nvPr/>
        </p:nvSpPr>
        <p:spPr>
          <a:xfrm>
            <a:off x="365760" y="5833872"/>
            <a:ext cx="1417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Avg Rating</a:t>
            </a:r>
            <a:endParaRPr lang="en-US" sz="1000" dirty="0"/>
          </a:p>
        </p:txBody>
      </p:sp>
      <p:sp>
        <p:nvSpPr>
          <p:cNvPr id="10" name="Shape 6"/>
          <p:cNvSpPr/>
          <p:nvPr/>
        </p:nvSpPr>
        <p:spPr>
          <a:xfrm>
            <a:off x="1920240" y="5212080"/>
            <a:ext cx="1417320" cy="1188720"/>
          </a:xfrm>
          <a:prstGeom prst="rect">
            <a:avLst/>
          </a:prstGeom>
          <a:solidFill>
            <a:srgbClr val="0D9488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7"/>
          <p:cNvSpPr/>
          <p:nvPr/>
        </p:nvSpPr>
        <p:spPr>
          <a:xfrm>
            <a:off x="1920240" y="5285232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45%</a:t>
            </a:r>
            <a:endParaRPr lang="en-US" sz="1800" dirty="0"/>
          </a:p>
        </p:txBody>
      </p:sp>
      <p:sp>
        <p:nvSpPr>
          <p:cNvPr id="12" name="Text 8"/>
          <p:cNvSpPr/>
          <p:nvPr/>
        </p:nvSpPr>
        <p:spPr>
          <a:xfrm>
            <a:off x="1920240" y="5833872"/>
            <a:ext cx="1417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Very Good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3474720" y="5212080"/>
            <a:ext cx="1417320" cy="1188720"/>
          </a:xfrm>
          <a:prstGeom prst="rect">
            <a:avLst/>
          </a:prstGeom>
          <a:solidFill>
            <a:srgbClr val="E23744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Text 10"/>
          <p:cNvSpPr/>
          <p:nvPr/>
        </p:nvSpPr>
        <p:spPr>
          <a:xfrm>
            <a:off x="3474720" y="5285232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3%</a:t>
            </a:r>
            <a:endParaRPr lang="en-US" sz="1800" dirty="0"/>
          </a:p>
        </p:txBody>
      </p:sp>
      <p:sp>
        <p:nvSpPr>
          <p:cNvPr id="15" name="Text 11"/>
          <p:cNvSpPr/>
          <p:nvPr/>
        </p:nvSpPr>
        <p:spPr>
          <a:xfrm>
            <a:off x="3474720" y="5833872"/>
            <a:ext cx="1417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Poor (&lt;3.0)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5120640" y="5212080"/>
            <a:ext cx="6583680" cy="1188720"/>
          </a:xfrm>
          <a:prstGeom prst="rect">
            <a:avLst/>
          </a:prstGeom>
          <a:solidFill>
            <a:srgbClr val="F0F4FF"/>
          </a:solidFill>
          <a:ln/>
        </p:spPr>
      </p:sp>
      <p:pic>
        <p:nvPicPr>
          <p:cNvPr id="17" name="Image 0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57800" y="5321808"/>
            <a:ext cx="347472" cy="34747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5669280" y="5230368"/>
            <a:ext cx="5943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1C2E"/>
                </a:solidFill>
              </a:rPr>
              <a:t>KEY INSIGHT</a:t>
            </a:r>
            <a:endParaRPr lang="en-US" sz="1100" dirty="0"/>
          </a:p>
        </p:txBody>
      </p:sp>
      <p:sp>
        <p:nvSpPr>
          <p:cNvPr id="19" name="Text 14"/>
          <p:cNvSpPr/>
          <p:nvPr/>
        </p:nvSpPr>
        <p:spPr>
          <a:xfrm>
            <a:off x="5669280" y="5559552"/>
            <a:ext cx="5943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334155"/>
                </a:solidFill>
              </a:rPr>
              <a:t>The majority of restaurants cluster between 3.5 and 4.5 stars, with the peak at 3.8–4.2. Only 3% of restaurants fall below 3.0, meaning Zomato's listed restaurants are generally well-received. A great rating starts with consistency.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77240"/>
          </a:xfrm>
          <a:prstGeom prst="rect">
            <a:avLst/>
          </a:prstGeom>
          <a:solidFill>
            <a:srgbClr val="16204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9144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FFFFFF"/>
                </a:solidFill>
              </a:rPr>
              <a:t>LOCATION ANALYSIS</a:t>
            </a:r>
            <a:endParaRPr lang="en-US" sz="13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47120" y="164592"/>
            <a:ext cx="411480" cy="411480"/>
          </a:xfrm>
          <a:prstGeom prst="rect">
            <a:avLst/>
          </a:prstGeom>
        </p:spPr>
      </p:pic>
      <p:graphicFrame>
        <p:nvGraphicFramePr>
          <p:cNvPr id="5" name="Chart 0" descr=""/>
          <p:cNvGraphicFramePr/>
          <p:nvPr/>
        </p:nvGraphicFramePr>
        <p:xfrm>
          <a:off x="365760" y="914400"/>
          <a:ext cx="6858000" cy="4114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6" name="Chart 1" descr=""/>
          <p:cNvGraphicFramePr/>
          <p:nvPr/>
        </p:nvGraphicFramePr>
        <p:xfrm>
          <a:off x="7498080" y="914400"/>
          <a:ext cx="4389120" cy="4114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7" name="Shape 2"/>
          <p:cNvSpPr/>
          <p:nvPr/>
        </p:nvSpPr>
        <p:spPr>
          <a:xfrm>
            <a:off x="365760" y="5212080"/>
            <a:ext cx="11430000" cy="1325880"/>
          </a:xfrm>
          <a:prstGeom prst="rect">
            <a:avLst/>
          </a:prstGeom>
          <a:solidFill>
            <a:srgbClr val="1C1C2E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5376672"/>
            <a:ext cx="384048" cy="384048"/>
          </a:xfrm>
          <a:prstGeom prst="rect">
            <a:avLst/>
          </a:prstGeom>
        </p:spPr>
      </p:pic>
      <p:sp>
        <p:nvSpPr>
          <p:cNvPr id="9" name="Text 3"/>
          <p:cNvSpPr/>
          <p:nvPr/>
        </p:nvSpPr>
        <p:spPr>
          <a:xfrm>
            <a:off x="1051560" y="5230368"/>
            <a:ext cx="10515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A623"/>
                </a:solidFill>
              </a:rPr>
              <a:t>LOCATION INSIGHT</a:t>
            </a:r>
            <a:endParaRPr lang="en-US" sz="1100" dirty="0"/>
          </a:p>
        </p:txBody>
      </p:sp>
      <p:sp>
        <p:nvSpPr>
          <p:cNvPr id="10" name="Text 4"/>
          <p:cNvSpPr/>
          <p:nvPr/>
        </p:nvSpPr>
        <p:spPr>
          <a:xfrm>
            <a:off x="1051560" y="5577840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C8D0E0"/>
                </a:solidFill>
              </a:rPr>
              <a:t>New Delhi has the highest restaurant count (30,000+), but smaller cities like Agra score the highest average ratings. This suggests less competition in Tier-2 cities creates opportunity for new entrants. Metro cities are saturated — differentiation is critical there.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7724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9144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FFFFFF"/>
                </a:solidFill>
              </a:rPr>
              <a:t>CUISINE ANALYSIS</a:t>
            </a:r>
            <a:endParaRPr lang="en-US" sz="13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47120" y="164592"/>
            <a:ext cx="411480" cy="411480"/>
          </a:xfrm>
          <a:prstGeom prst="rect">
            <a:avLst/>
          </a:prstGeom>
        </p:spPr>
      </p:pic>
      <p:graphicFrame>
        <p:nvGraphicFramePr>
          <p:cNvPr id="5" name="Chart 0" descr=""/>
          <p:cNvGraphicFramePr/>
          <p:nvPr/>
        </p:nvGraphicFramePr>
        <p:xfrm>
          <a:off x="365760" y="914400"/>
          <a:ext cx="731520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6" name="Chart 1" descr=""/>
          <p:cNvGraphicFramePr/>
          <p:nvPr/>
        </p:nvGraphicFramePr>
        <p:xfrm>
          <a:off x="7955280" y="914400"/>
          <a:ext cx="384048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7" name="Shape 2"/>
          <p:cNvSpPr/>
          <p:nvPr/>
        </p:nvSpPr>
        <p:spPr>
          <a:xfrm>
            <a:off x="365760" y="5303520"/>
            <a:ext cx="11430000" cy="1234440"/>
          </a:xfrm>
          <a:prstGeom prst="rect">
            <a:avLst/>
          </a:prstGeom>
          <a:solidFill>
            <a:srgbClr val="E6F7F5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5440680"/>
            <a:ext cx="347472" cy="347472"/>
          </a:xfrm>
          <a:prstGeom prst="rect">
            <a:avLst/>
          </a:prstGeom>
        </p:spPr>
      </p:pic>
      <p:sp>
        <p:nvSpPr>
          <p:cNvPr id="9" name="Text 3"/>
          <p:cNvSpPr/>
          <p:nvPr/>
        </p:nvSpPr>
        <p:spPr>
          <a:xfrm>
            <a:off x="1051560" y="5321808"/>
            <a:ext cx="10515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</a:rPr>
              <a:t>CUISINE INSIGHT</a:t>
            </a:r>
            <a:endParaRPr lang="en-US" sz="1100" dirty="0"/>
          </a:p>
        </p:txBody>
      </p:sp>
      <p:sp>
        <p:nvSpPr>
          <p:cNvPr id="10" name="Text 4"/>
          <p:cNvSpPr/>
          <p:nvPr/>
        </p:nvSpPr>
        <p:spPr>
          <a:xfrm>
            <a:off x="1051560" y="5650992"/>
            <a:ext cx="107899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334155"/>
                </a:solidFill>
              </a:rPr>
              <a:t>North Indian and Chinese dominate — but that also means maximum competition. The sweet spot for ratings is offering 4–6 cuisines; beyond that, quality likely suffers. Restaurants offering regional or niche cuisines can stand out with less competition and a loyal customer base.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7724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FFFFFF"/>
                </a:solidFill>
              </a:rPr>
              <a:t>PRICE RANGE &amp; RATING ANALYSIS</a:t>
            </a:r>
            <a:endParaRPr lang="en-US" sz="13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47120" y="164592"/>
            <a:ext cx="411480" cy="411480"/>
          </a:xfrm>
          <a:prstGeom prst="rect">
            <a:avLst/>
          </a:prstGeom>
        </p:spPr>
      </p:pic>
      <p:graphicFrame>
        <p:nvGraphicFramePr>
          <p:cNvPr id="5" name="Chart 0" descr=""/>
          <p:cNvGraphicFramePr/>
          <p:nvPr/>
        </p:nvGraphicFramePr>
        <p:xfrm>
          <a:off x="365760" y="914400"/>
          <a:ext cx="5486400" cy="3840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6" name="Chart 1" descr=""/>
          <p:cNvGraphicFramePr/>
          <p:nvPr/>
        </p:nvGraphicFramePr>
        <p:xfrm>
          <a:off x="6217920" y="914400"/>
          <a:ext cx="5577840" cy="3840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7" name="Shape 2"/>
          <p:cNvSpPr/>
          <p:nvPr/>
        </p:nvSpPr>
        <p:spPr>
          <a:xfrm>
            <a:off x="365760" y="4892040"/>
            <a:ext cx="2651760" cy="1463040"/>
          </a:xfrm>
          <a:prstGeom prst="rect">
            <a:avLst/>
          </a:prstGeom>
          <a:solidFill>
            <a:srgbClr val="F8F9FA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Shape 3"/>
          <p:cNvSpPr/>
          <p:nvPr/>
        </p:nvSpPr>
        <p:spPr>
          <a:xfrm>
            <a:off x="365760" y="4892040"/>
            <a:ext cx="2651760" cy="64008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9" name="Text 4"/>
          <p:cNvSpPr/>
          <p:nvPr/>
        </p:nvSpPr>
        <p:spPr>
          <a:xfrm>
            <a:off x="365760" y="498348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C1C2E"/>
                </a:solidFill>
              </a:rPr>
              <a:t>Budget</a:t>
            </a:r>
            <a:endParaRPr lang="en-US" sz="1200" dirty="0"/>
          </a:p>
        </p:txBody>
      </p:sp>
      <p:sp>
        <p:nvSpPr>
          <p:cNvPr id="10" name="Text 5"/>
          <p:cNvSpPr/>
          <p:nvPr/>
        </p:nvSpPr>
        <p:spPr>
          <a:xfrm>
            <a:off x="365760" y="534924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₹280</a:t>
            </a:r>
            <a:endParaRPr lang="en-US" sz="1100" dirty="0"/>
          </a:p>
        </p:txBody>
      </p:sp>
      <p:sp>
        <p:nvSpPr>
          <p:cNvPr id="11" name="Text 6"/>
          <p:cNvSpPr/>
          <p:nvPr/>
        </p:nvSpPr>
        <p:spPr>
          <a:xfrm>
            <a:off x="365760" y="566928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B82F6"/>
                </a:solidFill>
              </a:rPr>
              <a:t>3.65 ★</a:t>
            </a:r>
            <a:endParaRPr lang="en-US" sz="1600" dirty="0"/>
          </a:p>
        </p:txBody>
      </p:sp>
      <p:sp>
        <p:nvSpPr>
          <p:cNvPr id="12" name="Shape 7"/>
          <p:cNvSpPr/>
          <p:nvPr/>
        </p:nvSpPr>
        <p:spPr>
          <a:xfrm>
            <a:off x="3200400" y="4892040"/>
            <a:ext cx="2651760" cy="1463040"/>
          </a:xfrm>
          <a:prstGeom prst="rect">
            <a:avLst/>
          </a:prstGeom>
          <a:solidFill>
            <a:srgbClr val="F8F9FA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8"/>
          <p:cNvSpPr/>
          <p:nvPr/>
        </p:nvSpPr>
        <p:spPr>
          <a:xfrm>
            <a:off x="3200400" y="4892040"/>
            <a:ext cx="2651760" cy="6400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4" name="Text 9"/>
          <p:cNvSpPr/>
          <p:nvPr/>
        </p:nvSpPr>
        <p:spPr>
          <a:xfrm>
            <a:off x="3200400" y="498348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C1C2E"/>
                </a:solidFill>
              </a:rPr>
              <a:t>Moderate</a:t>
            </a:r>
            <a:endParaRPr lang="en-US" sz="1200" dirty="0"/>
          </a:p>
        </p:txBody>
      </p:sp>
      <p:sp>
        <p:nvSpPr>
          <p:cNvPr id="15" name="Text 10"/>
          <p:cNvSpPr/>
          <p:nvPr/>
        </p:nvSpPr>
        <p:spPr>
          <a:xfrm>
            <a:off x="3200400" y="534924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₹650</a:t>
            </a:r>
            <a:endParaRPr lang="en-US" sz="1100" dirty="0"/>
          </a:p>
        </p:txBody>
      </p:sp>
      <p:sp>
        <p:nvSpPr>
          <p:cNvPr id="16" name="Text 11"/>
          <p:cNvSpPr/>
          <p:nvPr/>
        </p:nvSpPr>
        <p:spPr>
          <a:xfrm>
            <a:off x="3200400" y="566928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</a:rPr>
              <a:t>3.92 ★</a:t>
            </a:r>
            <a:endParaRPr lang="en-US" sz="1600" dirty="0"/>
          </a:p>
        </p:txBody>
      </p:sp>
      <p:sp>
        <p:nvSpPr>
          <p:cNvPr id="17" name="Shape 12"/>
          <p:cNvSpPr/>
          <p:nvPr/>
        </p:nvSpPr>
        <p:spPr>
          <a:xfrm>
            <a:off x="6035040" y="4892040"/>
            <a:ext cx="2651760" cy="1463040"/>
          </a:xfrm>
          <a:prstGeom prst="rect">
            <a:avLst/>
          </a:prstGeom>
          <a:solidFill>
            <a:srgbClr val="F8F9FA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6035040" y="4892040"/>
            <a:ext cx="2651760" cy="64008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9" name="Text 14"/>
          <p:cNvSpPr/>
          <p:nvPr/>
        </p:nvSpPr>
        <p:spPr>
          <a:xfrm>
            <a:off x="6035040" y="498348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C1C2E"/>
                </a:solidFill>
              </a:rPr>
              <a:t>Expensive</a:t>
            </a:r>
            <a:endParaRPr lang="en-US" sz="1200" dirty="0"/>
          </a:p>
        </p:txBody>
      </p:sp>
      <p:sp>
        <p:nvSpPr>
          <p:cNvPr id="20" name="Text 15"/>
          <p:cNvSpPr/>
          <p:nvPr/>
        </p:nvSpPr>
        <p:spPr>
          <a:xfrm>
            <a:off x="6035040" y="534924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₹1,400</a:t>
            </a:r>
            <a:endParaRPr lang="en-US" sz="1100" dirty="0"/>
          </a:p>
        </p:txBody>
      </p:sp>
      <p:sp>
        <p:nvSpPr>
          <p:cNvPr id="21" name="Text 16"/>
          <p:cNvSpPr/>
          <p:nvPr/>
        </p:nvSpPr>
        <p:spPr>
          <a:xfrm>
            <a:off x="6035040" y="566928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A623"/>
                </a:solidFill>
              </a:rPr>
              <a:t>4.18 ★</a:t>
            </a:r>
            <a:endParaRPr lang="en-US" sz="1600" dirty="0"/>
          </a:p>
        </p:txBody>
      </p:sp>
      <p:sp>
        <p:nvSpPr>
          <p:cNvPr id="22" name="Shape 17"/>
          <p:cNvSpPr/>
          <p:nvPr/>
        </p:nvSpPr>
        <p:spPr>
          <a:xfrm>
            <a:off x="8869680" y="4892040"/>
            <a:ext cx="2651760" cy="1463040"/>
          </a:xfrm>
          <a:prstGeom prst="rect">
            <a:avLst/>
          </a:prstGeom>
          <a:solidFill>
            <a:srgbClr val="F8F9FA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8869680" y="4892040"/>
            <a:ext cx="2651760" cy="64008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24" name="Text 19"/>
          <p:cNvSpPr/>
          <p:nvPr/>
        </p:nvSpPr>
        <p:spPr>
          <a:xfrm>
            <a:off x="8869680" y="498348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C1C2E"/>
                </a:solidFill>
              </a:rPr>
              <a:t>Luxury</a:t>
            </a:r>
            <a:endParaRPr lang="en-US" sz="1200" dirty="0"/>
          </a:p>
        </p:txBody>
      </p:sp>
      <p:sp>
        <p:nvSpPr>
          <p:cNvPr id="25" name="Text 20"/>
          <p:cNvSpPr/>
          <p:nvPr/>
        </p:nvSpPr>
        <p:spPr>
          <a:xfrm>
            <a:off x="8869680" y="534924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₹3,200</a:t>
            </a:r>
            <a:endParaRPr lang="en-US" sz="1100" dirty="0"/>
          </a:p>
        </p:txBody>
      </p:sp>
      <p:sp>
        <p:nvSpPr>
          <p:cNvPr id="26" name="Text 21"/>
          <p:cNvSpPr/>
          <p:nvPr/>
        </p:nvSpPr>
        <p:spPr>
          <a:xfrm>
            <a:off x="8869680" y="566928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8B5CF6"/>
                </a:solidFill>
              </a:rPr>
              <a:t>4.41 ★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77240"/>
          </a:xfrm>
          <a:prstGeom prst="rect">
            <a:avLst/>
          </a:prstGeom>
          <a:solidFill>
            <a:srgbClr val="E2374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9144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FFFFFF"/>
                </a:solidFill>
              </a:rPr>
              <a:t>ONLINE SERVICES IMPACT</a:t>
            </a:r>
            <a:endParaRPr lang="en-US" sz="13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47120" y="164592"/>
            <a:ext cx="475488" cy="347472"/>
          </a:xfrm>
          <a:prstGeom prst="rect">
            <a:avLst/>
          </a:prstGeom>
        </p:spPr>
      </p:pic>
      <p:graphicFrame>
        <p:nvGraphicFramePr>
          <p:cNvPr id="5" name="Chart 0" descr=""/>
          <p:cNvGraphicFramePr/>
          <p:nvPr/>
        </p:nvGraphicFramePr>
        <p:xfrm>
          <a:off x="365760" y="914400"/>
          <a:ext cx="6400800" cy="3931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 2"/>
          <p:cNvSpPr/>
          <p:nvPr/>
        </p:nvSpPr>
        <p:spPr>
          <a:xfrm>
            <a:off x="7315200" y="91440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1C2E"/>
                </a:solidFill>
              </a:rPr>
              <a:t>Service Availability</a:t>
            </a:r>
            <a:endParaRPr lang="en-US" sz="1400" dirty="0"/>
          </a:p>
        </p:txBody>
      </p:sp>
      <p:sp>
        <p:nvSpPr>
          <p:cNvPr id="7" name="Shape 3"/>
          <p:cNvSpPr/>
          <p:nvPr/>
        </p:nvSpPr>
        <p:spPr>
          <a:xfrm>
            <a:off x="7315200" y="1463040"/>
            <a:ext cx="4389120" cy="1417320"/>
          </a:xfrm>
          <a:prstGeom prst="rect">
            <a:avLst/>
          </a:prstGeom>
          <a:solidFill>
            <a:srgbClr val="E23744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52360" y="1600200"/>
            <a:ext cx="594360" cy="41148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8138160" y="150876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62%</a:t>
            </a:r>
            <a:endParaRPr lang="en-US" sz="3000" dirty="0"/>
          </a:p>
        </p:txBody>
      </p:sp>
      <p:sp>
        <p:nvSpPr>
          <p:cNvPr id="10" name="Text 5"/>
          <p:cNvSpPr/>
          <p:nvPr/>
        </p:nvSpPr>
        <p:spPr>
          <a:xfrm>
            <a:off x="8138160" y="2121408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D0D4"/>
                </a:solidFill>
              </a:rPr>
              <a:t>of restaurants offer Delivery</a:t>
            </a:r>
            <a:endParaRPr lang="en-US" sz="1100" dirty="0"/>
          </a:p>
        </p:txBody>
      </p:sp>
      <p:sp>
        <p:nvSpPr>
          <p:cNvPr id="11" name="Shape 6"/>
          <p:cNvSpPr/>
          <p:nvPr/>
        </p:nvSpPr>
        <p:spPr>
          <a:xfrm>
            <a:off x="7315200" y="3063240"/>
            <a:ext cx="4389120" cy="1417320"/>
          </a:xfrm>
          <a:prstGeom prst="rect">
            <a:avLst/>
          </a:prstGeom>
          <a:solidFill>
            <a:srgbClr val="3B82F6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52360" y="3200400"/>
            <a:ext cx="502920" cy="45720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8138160" y="310896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71%</a:t>
            </a:r>
            <a:endParaRPr lang="en-US" sz="3000" dirty="0"/>
          </a:p>
        </p:txBody>
      </p:sp>
      <p:sp>
        <p:nvSpPr>
          <p:cNvPr id="14" name="Text 8"/>
          <p:cNvSpPr/>
          <p:nvPr/>
        </p:nvSpPr>
        <p:spPr>
          <a:xfrm>
            <a:off x="8138160" y="3721608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7DFFF"/>
                </a:solidFill>
              </a:rPr>
              <a:t>of restaurants offer Takeaway</a:t>
            </a:r>
            <a:endParaRPr lang="en-US" sz="1100" dirty="0"/>
          </a:p>
        </p:txBody>
      </p:sp>
      <p:sp>
        <p:nvSpPr>
          <p:cNvPr id="15" name="Shape 9"/>
          <p:cNvSpPr/>
          <p:nvPr/>
        </p:nvSpPr>
        <p:spPr>
          <a:xfrm>
            <a:off x="365760" y="5029200"/>
            <a:ext cx="11430000" cy="1508760"/>
          </a:xfrm>
          <a:prstGeom prst="rect">
            <a:avLst/>
          </a:prstGeom>
          <a:solidFill>
            <a:srgbClr val="1C1C2E"/>
          </a:solidFill>
          <a:ln/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5193792"/>
            <a:ext cx="384048" cy="347472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1051560" y="5047488"/>
            <a:ext cx="10058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A623"/>
                </a:solidFill>
              </a:rPr>
              <a:t>DELIVERY &amp; TAKEAWAY INSIGHT</a:t>
            </a:r>
            <a:endParaRPr lang="en-US" sz="1100" dirty="0"/>
          </a:p>
        </p:txBody>
      </p:sp>
      <p:sp>
        <p:nvSpPr>
          <p:cNvPr id="18" name="Text 11"/>
          <p:cNvSpPr/>
          <p:nvPr/>
        </p:nvSpPr>
        <p:spPr>
          <a:xfrm>
            <a:off x="1051560" y="5394960"/>
            <a:ext cx="10789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C8D0E0"/>
                </a:solidFill>
              </a:rPr>
              <a:t>Restaurants offering both delivery and takeaway score 0.27–0.41 points higher on average than those without. In a mobile-first India, not being on delivery platforms is a direct competitive disadvantage.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C8D0E0"/>
                </a:solidFill>
              </a:rPr>
              <a:t>➡  Action: Enable delivery immediately. Even a basic takeaway setup adds measurable rating uplift.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772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9144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1C1C2E"/>
                </a:solidFill>
              </a:rPr>
              <a:t>TOP RESTAURANT CHAINS</a:t>
            </a:r>
            <a:endParaRPr lang="en-US" sz="13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47120" y="109728"/>
            <a:ext cx="457200" cy="457200"/>
          </a:xfrm>
          <a:prstGeom prst="rect">
            <a:avLst/>
          </a:prstGeom>
        </p:spPr>
      </p:pic>
      <p:graphicFrame>
        <p:nvGraphicFramePr>
          <p:cNvPr id="5" name="Chart 0" descr=""/>
          <p:cNvGraphicFramePr/>
          <p:nvPr/>
        </p:nvGraphicFramePr>
        <p:xfrm>
          <a:off x="365760" y="914400"/>
          <a:ext cx="6400800" cy="3931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6" name="Chart 1" descr=""/>
          <p:cNvGraphicFramePr/>
          <p:nvPr/>
        </p:nvGraphicFramePr>
        <p:xfrm>
          <a:off x="7040880" y="914400"/>
          <a:ext cx="4754880" cy="3931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7" name="Shape 2"/>
          <p:cNvSpPr/>
          <p:nvPr/>
        </p:nvSpPr>
        <p:spPr>
          <a:xfrm>
            <a:off x="365760" y="5029200"/>
            <a:ext cx="11430000" cy="1508760"/>
          </a:xfrm>
          <a:prstGeom prst="rect">
            <a:avLst/>
          </a:prstGeom>
          <a:solidFill>
            <a:srgbClr val="FFF8E8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5166360"/>
            <a:ext cx="347472" cy="347472"/>
          </a:xfrm>
          <a:prstGeom prst="rect">
            <a:avLst/>
          </a:prstGeom>
        </p:spPr>
      </p:pic>
      <p:sp>
        <p:nvSpPr>
          <p:cNvPr id="9" name="Text 3"/>
          <p:cNvSpPr/>
          <p:nvPr/>
        </p:nvSpPr>
        <p:spPr>
          <a:xfrm>
            <a:off x="1051560" y="5047488"/>
            <a:ext cx="10058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A623"/>
                </a:solidFill>
              </a:rPr>
              <a:t>CHAIN INSIGHT</a:t>
            </a:r>
            <a:endParaRPr lang="en-US" sz="1100" dirty="0"/>
          </a:p>
        </p:txBody>
      </p:sp>
      <p:sp>
        <p:nvSpPr>
          <p:cNvPr id="10" name="Text 4"/>
          <p:cNvSpPr/>
          <p:nvPr/>
        </p:nvSpPr>
        <p:spPr>
          <a:xfrm>
            <a:off x="1051560" y="5394960"/>
            <a:ext cx="10789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334155"/>
                </a:solidFill>
              </a:rPr>
              <a:t>Haldiram's and Bikanervala — Indian homegrown chains — outperform global fast-food giants on ratings despite fewer outlets. Consistency, local taste preference, and value-for-money are their winning formula.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334155"/>
                </a:solidFill>
              </a:rPr>
              <a:t>➡  Lesson: You don't need to be the biggest chain to win on quality. Focus on a repeatable, authentic experience.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7724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FFFFF"/>
                </a:solidFill>
              </a:rPr>
              <a:t>RESTAURANT FEATURES — WHAT REALLY HELPS</a:t>
            </a:r>
            <a:endParaRPr lang="en-US" sz="13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365760" y="914400"/>
          <a:ext cx="6858000" cy="4114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498080" y="1005840"/>
            <a:ext cx="4297680" cy="960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7607808" y="1188720"/>
            <a:ext cx="548640" cy="548640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2672" y="1234440"/>
            <a:ext cx="438912" cy="43891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8275320" y="1078992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1C2E"/>
                </a:solidFill>
              </a:rPr>
              <a:t>Credit Card</a:t>
            </a:r>
            <a:endParaRPr lang="en-US" sz="1300" dirty="0"/>
          </a:p>
        </p:txBody>
      </p:sp>
      <p:sp>
        <p:nvSpPr>
          <p:cNvPr id="9" name="Text 5"/>
          <p:cNvSpPr/>
          <p:nvPr/>
        </p:nvSpPr>
        <p:spPr>
          <a:xfrm>
            <a:off x="8275320" y="1463040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9488"/>
                </a:solidFill>
              </a:rPr>
              <a:t>+0.42 rating boost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7498080" y="2103120"/>
            <a:ext cx="4297680" cy="960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7607808" y="2286000"/>
            <a:ext cx="548640" cy="548640"/>
          </a:xfrm>
          <a:prstGeom prst="ellipse">
            <a:avLst/>
          </a:prstGeom>
          <a:solidFill>
            <a:srgbClr val="3B82F6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62672" y="2331720"/>
            <a:ext cx="438912" cy="438912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8275320" y="2176272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1C2E"/>
                </a:solidFill>
              </a:rPr>
              <a:t>Wi-Fi</a:t>
            </a:r>
            <a:endParaRPr lang="en-US" sz="1300" dirty="0"/>
          </a:p>
        </p:txBody>
      </p:sp>
      <p:sp>
        <p:nvSpPr>
          <p:cNvPr id="14" name="Text 9"/>
          <p:cNvSpPr/>
          <p:nvPr/>
        </p:nvSpPr>
        <p:spPr>
          <a:xfrm>
            <a:off x="8275320" y="2560320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B82F6"/>
                </a:solidFill>
              </a:rPr>
              <a:t>+0.25 rating boost</a:t>
            </a:r>
            <a:endParaRPr lang="en-US" sz="1100" dirty="0"/>
          </a:p>
        </p:txBody>
      </p:sp>
      <p:sp>
        <p:nvSpPr>
          <p:cNvPr id="15" name="Shape 10"/>
          <p:cNvSpPr/>
          <p:nvPr/>
        </p:nvSpPr>
        <p:spPr>
          <a:xfrm>
            <a:off x="7498080" y="3200400"/>
            <a:ext cx="4297680" cy="960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1"/>
          <p:cNvSpPr/>
          <p:nvPr/>
        </p:nvSpPr>
        <p:spPr>
          <a:xfrm>
            <a:off x="7607808" y="3383280"/>
            <a:ext cx="548640" cy="548640"/>
          </a:xfrm>
          <a:prstGeom prst="ellipse">
            <a:avLst/>
          </a:prstGeom>
          <a:solidFill>
            <a:srgbClr val="8B5CF6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62672" y="3429000"/>
            <a:ext cx="438912" cy="438912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8275320" y="3273552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1C2E"/>
                </a:solidFill>
              </a:rPr>
              <a:t>Air Con</a:t>
            </a:r>
            <a:endParaRPr lang="en-US" sz="1300" dirty="0"/>
          </a:p>
        </p:txBody>
      </p:sp>
      <p:sp>
        <p:nvSpPr>
          <p:cNvPr id="19" name="Text 13"/>
          <p:cNvSpPr/>
          <p:nvPr/>
        </p:nvSpPr>
        <p:spPr>
          <a:xfrm>
            <a:off x="8275320" y="3657600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5CF6"/>
                </a:solidFill>
              </a:rPr>
              <a:t>+0.48 rating boost</a:t>
            </a:r>
            <a:endParaRPr lang="en-US" sz="1100" dirty="0"/>
          </a:p>
        </p:txBody>
      </p:sp>
      <p:sp>
        <p:nvSpPr>
          <p:cNvPr id="20" name="Shape 14"/>
          <p:cNvSpPr/>
          <p:nvPr/>
        </p:nvSpPr>
        <p:spPr>
          <a:xfrm>
            <a:off x="7498080" y="4297680"/>
            <a:ext cx="4297680" cy="960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5"/>
          <p:cNvSpPr/>
          <p:nvPr/>
        </p:nvSpPr>
        <p:spPr>
          <a:xfrm>
            <a:off x="7607808" y="4480560"/>
            <a:ext cx="548640" cy="548640"/>
          </a:xfrm>
          <a:prstGeom prst="ellipse">
            <a:avLst/>
          </a:prstGeom>
          <a:solidFill>
            <a:srgbClr val="22C55E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62672" y="4526280"/>
            <a:ext cx="438912" cy="438912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8275320" y="4370832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1C2E"/>
                </a:solidFill>
              </a:rPr>
              <a:t>More Photos</a:t>
            </a:r>
            <a:endParaRPr lang="en-US" sz="1300" dirty="0"/>
          </a:p>
        </p:txBody>
      </p:sp>
      <p:sp>
        <p:nvSpPr>
          <p:cNvPr id="24" name="Text 17"/>
          <p:cNvSpPr/>
          <p:nvPr/>
        </p:nvSpPr>
        <p:spPr>
          <a:xfrm>
            <a:off x="8275320" y="4754880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C55E"/>
                </a:solidFill>
              </a:rPr>
              <a:t>More votes → higher ★</a:t>
            </a:r>
            <a:endParaRPr lang="en-US" sz="1100" dirty="0"/>
          </a:p>
        </p:txBody>
      </p:sp>
      <p:sp>
        <p:nvSpPr>
          <p:cNvPr id="25" name="Shape 18"/>
          <p:cNvSpPr/>
          <p:nvPr/>
        </p:nvSpPr>
        <p:spPr>
          <a:xfrm>
            <a:off x="365760" y="5212080"/>
            <a:ext cx="11430000" cy="1325880"/>
          </a:xfrm>
          <a:prstGeom prst="rect">
            <a:avLst/>
          </a:prstGeom>
          <a:solidFill>
            <a:srgbClr val="EFF6FF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8640" y="5349240"/>
            <a:ext cx="347472" cy="347472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1051560" y="5230368"/>
            <a:ext cx="10058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B82F6"/>
                </a:solidFill>
              </a:rPr>
              <a:t>FEATURE INSIGHT</a:t>
            </a:r>
            <a:endParaRPr lang="en-US" sz="1100" dirty="0"/>
          </a:p>
        </p:txBody>
      </p:sp>
      <p:sp>
        <p:nvSpPr>
          <p:cNvPr id="28" name="Text 20"/>
          <p:cNvSpPr/>
          <p:nvPr/>
        </p:nvSpPr>
        <p:spPr>
          <a:xfrm>
            <a:off x="1051560" y="5577840"/>
            <a:ext cx="10789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334155"/>
                </a:solidFill>
              </a:rPr>
              <a:t>Air Conditioning delivers the highest rating boost (+0.48). Credit Card acceptance and Wi-Fi also significantly improve perceived quality. Interestingly, 'Pure Veg' restaurants score slightly lower on average — indicating premium, diverse menus drive better ratings.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334155"/>
                </a:solidFill>
              </a:rPr>
              <a:t>➡  Invest in comfort and convenience features before spending on marketing.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77240"/>
          </a:xfrm>
          <a:prstGeom prst="rect">
            <a:avLst/>
          </a:prstGeom>
          <a:solidFill>
            <a:srgbClr val="1C1C2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9144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FFFFFF"/>
                </a:solidFill>
              </a:rPr>
              <a:t>VOTES, PHOTOS &amp; POPULARITY</a:t>
            </a:r>
            <a:endParaRPr lang="en-US" sz="13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47120" y="164592"/>
            <a:ext cx="411480" cy="411480"/>
          </a:xfrm>
          <a:prstGeom prst="rect">
            <a:avLst/>
          </a:prstGeom>
        </p:spPr>
      </p:pic>
      <p:graphicFrame>
        <p:nvGraphicFramePr>
          <p:cNvPr id="5" name="Chart 0" descr=""/>
          <p:cNvGraphicFramePr/>
          <p:nvPr/>
        </p:nvGraphicFramePr>
        <p:xfrm>
          <a:off x="365760" y="914400"/>
          <a:ext cx="6400800" cy="3840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6" name="Chart 1" descr=""/>
          <p:cNvGraphicFramePr/>
          <p:nvPr/>
        </p:nvGraphicFramePr>
        <p:xfrm>
          <a:off x="7040880" y="914400"/>
          <a:ext cx="4754880" cy="3840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7" name="Shape 2"/>
          <p:cNvSpPr/>
          <p:nvPr/>
        </p:nvSpPr>
        <p:spPr>
          <a:xfrm>
            <a:off x="365760" y="4937760"/>
            <a:ext cx="5669280" cy="1280160"/>
          </a:xfrm>
          <a:prstGeom prst="rect">
            <a:avLst/>
          </a:prstGeom>
          <a:solidFill>
            <a:srgbClr val="1C1C2E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Text 3"/>
          <p:cNvSpPr/>
          <p:nvPr/>
        </p:nvSpPr>
        <p:spPr>
          <a:xfrm>
            <a:off x="365760" y="5029200"/>
            <a:ext cx="5669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+0.96 ★</a:t>
            </a:r>
            <a:endParaRPr lang="en-US" sz="2200" dirty="0"/>
          </a:p>
        </p:txBody>
      </p:sp>
      <p:sp>
        <p:nvSpPr>
          <p:cNvPr id="9" name="Text 4"/>
          <p:cNvSpPr/>
          <p:nvPr/>
        </p:nvSpPr>
        <p:spPr>
          <a:xfrm>
            <a:off x="365760" y="5559552"/>
            <a:ext cx="5669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8D0E0"/>
                </a:solidFill>
              </a:rPr>
              <a:t>Rating gain, 0→5K+ votes</a:t>
            </a:r>
            <a:endParaRPr lang="en-US" sz="1200" dirty="0"/>
          </a:p>
        </p:txBody>
      </p:sp>
      <p:sp>
        <p:nvSpPr>
          <p:cNvPr id="10" name="Shape 5"/>
          <p:cNvSpPr/>
          <p:nvPr/>
        </p:nvSpPr>
        <p:spPr>
          <a:xfrm>
            <a:off x="6492240" y="4937760"/>
            <a:ext cx="5669280" cy="1280160"/>
          </a:xfrm>
          <a:prstGeom prst="rect">
            <a:avLst/>
          </a:prstGeom>
          <a:solidFill>
            <a:srgbClr val="E23744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6"/>
          <p:cNvSpPr/>
          <p:nvPr/>
        </p:nvSpPr>
        <p:spPr>
          <a:xfrm>
            <a:off x="6492240" y="5029200"/>
            <a:ext cx="5669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+1.04 ★</a:t>
            </a:r>
            <a:endParaRPr lang="en-US" sz="2200" dirty="0"/>
          </a:p>
        </p:txBody>
      </p:sp>
      <p:sp>
        <p:nvSpPr>
          <p:cNvPr id="12" name="Text 7"/>
          <p:cNvSpPr/>
          <p:nvPr/>
        </p:nvSpPr>
        <p:spPr>
          <a:xfrm>
            <a:off x="6492240" y="5559552"/>
            <a:ext cx="5669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8D0E0"/>
                </a:solidFill>
              </a:rPr>
              <a:t>Rating gain, 0→100+ photos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77240"/>
          </a:xfrm>
          <a:prstGeom prst="rect">
            <a:avLst/>
          </a:prstGeom>
          <a:solidFill>
            <a:srgbClr val="E2374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FFFFF"/>
                </a:solidFill>
              </a:rPr>
              <a:t>KEY INSIGHTS FOR RESTAURANT SUCCESS</a:t>
            </a:r>
            <a:endParaRPr lang="en-US" sz="13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47120" y="137160"/>
            <a:ext cx="411480" cy="4114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365760" y="960120"/>
            <a:ext cx="3657600" cy="2423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365760" y="960120"/>
            <a:ext cx="3657600" cy="54864"/>
          </a:xfrm>
          <a:prstGeom prst="rect">
            <a:avLst/>
          </a:prstGeom>
          <a:solidFill>
            <a:srgbClr val="E23744"/>
          </a:solidFill>
          <a:ln/>
        </p:spPr>
      </p:sp>
      <p:sp>
        <p:nvSpPr>
          <p:cNvPr id="7" name="Shape 4"/>
          <p:cNvSpPr/>
          <p:nvPr/>
        </p:nvSpPr>
        <p:spPr>
          <a:xfrm>
            <a:off x="475488" y="1124712"/>
            <a:ext cx="502920" cy="502920"/>
          </a:xfrm>
          <a:prstGeom prst="ellipse">
            <a:avLst/>
          </a:prstGeom>
          <a:solidFill>
            <a:srgbClr val="E23744"/>
          </a:solidFill>
          <a:ln/>
        </p:spPr>
      </p:sp>
      <p:sp>
        <p:nvSpPr>
          <p:cNvPr id="8" name="Text 5"/>
          <p:cNvSpPr/>
          <p:nvPr/>
        </p:nvSpPr>
        <p:spPr>
          <a:xfrm>
            <a:off x="475488" y="112471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01</a:t>
            </a:r>
            <a:endParaRPr lang="en-US" sz="11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37560" y="1069848"/>
            <a:ext cx="457200" cy="4572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75488" y="1709928"/>
            <a:ext cx="3429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1C1C2E"/>
                </a:solidFill>
              </a:rPr>
              <a:t>Enable Delivery &amp; Takeaway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475488" y="2221992"/>
            <a:ext cx="342900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4748B"/>
                </a:solidFill>
              </a:rPr>
              <a:t>Restaurants with delivery score 0.27+ points higher on average. In a mobile-first India, not being on delivery platforms means losing customers before they even walk in.</a:t>
            </a:r>
            <a:endParaRPr lang="en-US" sz="1000" dirty="0"/>
          </a:p>
        </p:txBody>
      </p:sp>
      <p:sp>
        <p:nvSpPr>
          <p:cNvPr id="12" name="Shape 8"/>
          <p:cNvSpPr/>
          <p:nvPr/>
        </p:nvSpPr>
        <p:spPr>
          <a:xfrm>
            <a:off x="4206240" y="960120"/>
            <a:ext cx="3657600" cy="2423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4206240" y="960120"/>
            <a:ext cx="3657600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4" name="Shape 10"/>
          <p:cNvSpPr/>
          <p:nvPr/>
        </p:nvSpPr>
        <p:spPr>
          <a:xfrm>
            <a:off x="4315968" y="1124712"/>
            <a:ext cx="502920" cy="50292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5" name="Text 11"/>
          <p:cNvSpPr/>
          <p:nvPr/>
        </p:nvSpPr>
        <p:spPr>
          <a:xfrm>
            <a:off x="4315968" y="112471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02</a:t>
            </a:r>
            <a:endParaRPr lang="en-US" sz="1100" dirty="0"/>
          </a:p>
        </p:txBody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78040" y="1069848"/>
            <a:ext cx="457200" cy="45720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4315968" y="1709928"/>
            <a:ext cx="3429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1C1C2E"/>
                </a:solidFill>
              </a:rPr>
              <a:t>Invest in Comfort Features</a:t>
            </a:r>
            <a:endParaRPr lang="en-US" sz="1200" dirty="0"/>
          </a:p>
        </p:txBody>
      </p:sp>
      <p:sp>
        <p:nvSpPr>
          <p:cNvPr id="18" name="Text 13"/>
          <p:cNvSpPr/>
          <p:nvPr/>
        </p:nvSpPr>
        <p:spPr>
          <a:xfrm>
            <a:off x="4315968" y="2221992"/>
            <a:ext cx="342900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4748B"/>
                </a:solidFill>
              </a:rPr>
              <a:t>Air Conditioning alone adds +0.48 stars. Credit card acceptance adds +0.42. Customers associate comfort and convenience with quality.</a:t>
            </a:r>
            <a:endParaRPr lang="en-US" sz="1000" dirty="0"/>
          </a:p>
        </p:txBody>
      </p:sp>
      <p:sp>
        <p:nvSpPr>
          <p:cNvPr id="19" name="Shape 14"/>
          <p:cNvSpPr/>
          <p:nvPr/>
        </p:nvSpPr>
        <p:spPr>
          <a:xfrm>
            <a:off x="8046720" y="960120"/>
            <a:ext cx="3657600" cy="2423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8046720" y="960120"/>
            <a:ext cx="365760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1" name="Shape 16"/>
          <p:cNvSpPr/>
          <p:nvPr/>
        </p:nvSpPr>
        <p:spPr>
          <a:xfrm>
            <a:off x="8156448" y="1124712"/>
            <a:ext cx="502920" cy="50292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22" name="Text 17"/>
          <p:cNvSpPr/>
          <p:nvPr/>
        </p:nvSpPr>
        <p:spPr>
          <a:xfrm>
            <a:off x="8156448" y="112471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03</a:t>
            </a:r>
            <a:endParaRPr lang="en-US" sz="1100" dirty="0"/>
          </a:p>
        </p:txBody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18520" y="1069848"/>
            <a:ext cx="457200" cy="45720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8156448" y="1709928"/>
            <a:ext cx="3429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1C1C2E"/>
                </a:solidFill>
              </a:rPr>
              <a:t>Upload More Photos</a:t>
            </a:r>
            <a:endParaRPr lang="en-US" sz="1200" dirty="0"/>
          </a:p>
        </p:txBody>
      </p:sp>
      <p:sp>
        <p:nvSpPr>
          <p:cNvPr id="25" name="Text 19"/>
          <p:cNvSpPr/>
          <p:nvPr/>
        </p:nvSpPr>
        <p:spPr>
          <a:xfrm>
            <a:off x="8156448" y="2221992"/>
            <a:ext cx="342900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4748B"/>
                </a:solidFill>
              </a:rPr>
              <a:t>Restaurants with 100+ photos score 1 full star higher than those with none. Food photography is the cheapest and most effective marketing tool available.</a:t>
            </a:r>
            <a:endParaRPr lang="en-US" sz="1000" dirty="0"/>
          </a:p>
        </p:txBody>
      </p:sp>
      <p:sp>
        <p:nvSpPr>
          <p:cNvPr id="26" name="Shape 20"/>
          <p:cNvSpPr/>
          <p:nvPr/>
        </p:nvSpPr>
        <p:spPr>
          <a:xfrm>
            <a:off x="365760" y="3611880"/>
            <a:ext cx="3657600" cy="2423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7" name="Shape 21"/>
          <p:cNvSpPr/>
          <p:nvPr/>
        </p:nvSpPr>
        <p:spPr>
          <a:xfrm>
            <a:off x="365760" y="3611880"/>
            <a:ext cx="3657600" cy="54864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28" name="Shape 22"/>
          <p:cNvSpPr/>
          <p:nvPr/>
        </p:nvSpPr>
        <p:spPr>
          <a:xfrm>
            <a:off x="475488" y="3776472"/>
            <a:ext cx="502920" cy="502920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29" name="Text 23"/>
          <p:cNvSpPr/>
          <p:nvPr/>
        </p:nvSpPr>
        <p:spPr>
          <a:xfrm>
            <a:off x="475488" y="377647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04</a:t>
            </a:r>
            <a:endParaRPr lang="en-US" sz="1100" dirty="0"/>
          </a:p>
        </p:txBody>
      </p:sp>
      <p:pic>
        <p:nvPicPr>
          <p:cNvPr id="3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37560" y="3721608"/>
            <a:ext cx="457200" cy="457200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475488" y="4361688"/>
            <a:ext cx="3429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1C1C2E"/>
                </a:solidFill>
              </a:rPr>
              <a:t>Offer 4–6 Cuisines</a:t>
            </a:r>
            <a:endParaRPr lang="en-US" sz="1200" dirty="0"/>
          </a:p>
        </p:txBody>
      </p:sp>
      <p:sp>
        <p:nvSpPr>
          <p:cNvPr id="32" name="Text 25"/>
          <p:cNvSpPr/>
          <p:nvPr/>
        </p:nvSpPr>
        <p:spPr>
          <a:xfrm>
            <a:off x="475488" y="4873752"/>
            <a:ext cx="342900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4748B"/>
                </a:solidFill>
              </a:rPr>
              <a:t>The rating sweet spot is restaurants with 4–6 cuisines. Too few = limited appeal. Too many = inconsistency. Find your niche and master it.</a:t>
            </a:r>
            <a:endParaRPr lang="en-US" sz="1000" dirty="0"/>
          </a:p>
        </p:txBody>
      </p:sp>
      <p:sp>
        <p:nvSpPr>
          <p:cNvPr id="33" name="Shape 26"/>
          <p:cNvSpPr/>
          <p:nvPr/>
        </p:nvSpPr>
        <p:spPr>
          <a:xfrm>
            <a:off x="4206240" y="3611880"/>
            <a:ext cx="3657600" cy="2423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4" name="Shape 27"/>
          <p:cNvSpPr/>
          <p:nvPr/>
        </p:nvSpPr>
        <p:spPr>
          <a:xfrm>
            <a:off x="4206240" y="3611880"/>
            <a:ext cx="3657600" cy="54864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35" name="Shape 28"/>
          <p:cNvSpPr/>
          <p:nvPr/>
        </p:nvSpPr>
        <p:spPr>
          <a:xfrm>
            <a:off x="4315968" y="3776472"/>
            <a:ext cx="502920" cy="502920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36" name="Text 29"/>
          <p:cNvSpPr/>
          <p:nvPr/>
        </p:nvSpPr>
        <p:spPr>
          <a:xfrm>
            <a:off x="4315968" y="377647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05</a:t>
            </a:r>
            <a:endParaRPr lang="en-US" sz="1100" dirty="0"/>
          </a:p>
        </p:txBody>
      </p:sp>
      <p:pic>
        <p:nvPicPr>
          <p:cNvPr id="3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78040" y="3721608"/>
            <a:ext cx="457200" cy="457200"/>
          </a:xfrm>
          <a:prstGeom prst="rect">
            <a:avLst/>
          </a:prstGeom>
        </p:spPr>
      </p:pic>
      <p:sp>
        <p:nvSpPr>
          <p:cNvPr id="38" name="Text 30"/>
          <p:cNvSpPr/>
          <p:nvPr/>
        </p:nvSpPr>
        <p:spPr>
          <a:xfrm>
            <a:off x="4315968" y="4361688"/>
            <a:ext cx="3429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1C1C2E"/>
                </a:solidFill>
              </a:rPr>
              <a:t>Price Premium = Higher Rating</a:t>
            </a:r>
            <a:endParaRPr lang="en-US" sz="1200" dirty="0"/>
          </a:p>
        </p:txBody>
      </p:sp>
      <p:sp>
        <p:nvSpPr>
          <p:cNvPr id="39" name="Text 31"/>
          <p:cNvSpPr/>
          <p:nvPr/>
        </p:nvSpPr>
        <p:spPr>
          <a:xfrm>
            <a:off x="4315968" y="4873752"/>
            <a:ext cx="342900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4748B"/>
                </a:solidFill>
              </a:rPr>
              <a:t>Every price tier sees higher ratings. But Budget restaurants can still score 3.65+ with great consistency. Quality beats quantity at every price point.</a:t>
            </a:r>
            <a:endParaRPr lang="en-US" sz="1000" dirty="0"/>
          </a:p>
        </p:txBody>
      </p:sp>
      <p:sp>
        <p:nvSpPr>
          <p:cNvPr id="40" name="Shape 32"/>
          <p:cNvSpPr/>
          <p:nvPr/>
        </p:nvSpPr>
        <p:spPr>
          <a:xfrm>
            <a:off x="8046720" y="3611880"/>
            <a:ext cx="3657600" cy="2423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1" name="Shape 33"/>
          <p:cNvSpPr/>
          <p:nvPr/>
        </p:nvSpPr>
        <p:spPr>
          <a:xfrm>
            <a:off x="8046720" y="3611880"/>
            <a:ext cx="3657600" cy="54864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42" name="Shape 34"/>
          <p:cNvSpPr/>
          <p:nvPr/>
        </p:nvSpPr>
        <p:spPr>
          <a:xfrm>
            <a:off x="8156448" y="3776472"/>
            <a:ext cx="502920" cy="502920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43" name="Text 35"/>
          <p:cNvSpPr/>
          <p:nvPr/>
        </p:nvSpPr>
        <p:spPr>
          <a:xfrm>
            <a:off x="8156448" y="377647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06</a:t>
            </a:r>
            <a:endParaRPr lang="en-US" sz="1100" dirty="0"/>
          </a:p>
        </p:txBody>
      </p:sp>
      <p:pic>
        <p:nvPicPr>
          <p:cNvPr id="44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018520" y="3721608"/>
            <a:ext cx="457200" cy="457200"/>
          </a:xfrm>
          <a:prstGeom prst="rect">
            <a:avLst/>
          </a:prstGeom>
        </p:spPr>
      </p:pic>
      <p:sp>
        <p:nvSpPr>
          <p:cNvPr id="45" name="Text 36"/>
          <p:cNvSpPr/>
          <p:nvPr/>
        </p:nvSpPr>
        <p:spPr>
          <a:xfrm>
            <a:off x="8156448" y="4361688"/>
            <a:ext cx="3429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1C1C2E"/>
                </a:solidFill>
              </a:rPr>
              <a:t>Location: Go Tier-2</a:t>
            </a:r>
            <a:endParaRPr lang="en-US" sz="1200" dirty="0"/>
          </a:p>
        </p:txBody>
      </p:sp>
      <p:sp>
        <p:nvSpPr>
          <p:cNvPr id="46" name="Text 37"/>
          <p:cNvSpPr/>
          <p:nvPr/>
        </p:nvSpPr>
        <p:spPr>
          <a:xfrm>
            <a:off x="8156448" y="4873752"/>
            <a:ext cx="342900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4748B"/>
                </a:solidFill>
              </a:rPr>
              <a:t>Smaller cities like Agra and Gurgaon average 4.2+ stars with far less competition than Delhi/Mumbai. New entrants should consider Tier-2 cities seriously.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C1C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86800" y="0"/>
            <a:ext cx="3474720" cy="6858000"/>
          </a:xfrm>
          <a:prstGeom prst="rect">
            <a:avLst/>
          </a:prstGeom>
          <a:solidFill>
            <a:srgbClr val="E2374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0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500" kern="0" dirty="0">
                <a:solidFill>
                  <a:srgbClr val="F5A623"/>
                </a:solidFill>
              </a:rPr>
              <a:t>RECOMMENDATIONS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8D0E0"/>
                </a:solidFill>
              </a:rPr>
              <a:t>What Restaurant Owners Should Do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57200" y="1664208"/>
            <a:ext cx="292608" cy="292608"/>
          </a:xfrm>
          <a:prstGeom prst="ellipse">
            <a:avLst/>
          </a:prstGeom>
          <a:solidFill>
            <a:srgbClr val="E23744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645920"/>
            <a:ext cx="2926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96112" y="1600200"/>
            <a:ext cx="7498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8D0E0"/>
                </a:solidFill>
              </a:rPr>
              <a:t>Get on Zomato delivery immediately — 62% of competitors are already there and scoring higher.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57200" y="2331720"/>
            <a:ext cx="292608" cy="292608"/>
          </a:xfrm>
          <a:prstGeom prst="ellipse">
            <a:avLst/>
          </a:prstGeom>
          <a:solidFill>
            <a:srgbClr val="E23744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2313432"/>
            <a:ext cx="2926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2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96112" y="2267712"/>
            <a:ext cx="7498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8D0E0"/>
                </a:solidFill>
              </a:rPr>
              <a:t>Install Air Conditioning and accept Credit Cards. Together these add nearly +0.9 stars.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57200" y="2999232"/>
            <a:ext cx="292608" cy="292608"/>
          </a:xfrm>
          <a:prstGeom prst="ellipse">
            <a:avLst/>
          </a:prstGeom>
          <a:solidFill>
            <a:srgbClr val="E23744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2980944"/>
            <a:ext cx="2926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3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896112" y="2935224"/>
            <a:ext cx="7498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8D0E0"/>
                </a:solidFill>
              </a:rPr>
              <a:t>Take and upload at least 50 high-quality food photos. It's the easiest rating booster.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57200" y="3666744"/>
            <a:ext cx="292608" cy="292608"/>
          </a:xfrm>
          <a:prstGeom prst="ellipse">
            <a:avLst/>
          </a:prstGeom>
          <a:solidFill>
            <a:srgbClr val="E23744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3648456"/>
            <a:ext cx="2926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4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896112" y="3602736"/>
            <a:ext cx="7498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8D0E0"/>
                </a:solidFill>
              </a:rPr>
              <a:t>Focus on 4–6 cuisines. Master a few dishes rather than offering everything on the menu.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457200" y="4334256"/>
            <a:ext cx="292608" cy="292608"/>
          </a:xfrm>
          <a:prstGeom prst="ellipse">
            <a:avLst/>
          </a:prstGeom>
          <a:solidFill>
            <a:srgbClr val="E23744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" y="4315968"/>
            <a:ext cx="2926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5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896112" y="4270248"/>
            <a:ext cx="7498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8D0E0"/>
                </a:solidFill>
              </a:rPr>
              <a:t>Actively ask customers to leave a review after every meal. More votes = higher credibility.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457200" y="5001768"/>
            <a:ext cx="292608" cy="292608"/>
          </a:xfrm>
          <a:prstGeom prst="ellipse">
            <a:avLst/>
          </a:prstGeom>
          <a:solidFill>
            <a:srgbClr val="E23744"/>
          </a:solidFill>
          <a:ln/>
        </p:spPr>
      </p:sp>
      <p:sp>
        <p:nvSpPr>
          <p:cNvPr id="21" name="Text 19"/>
          <p:cNvSpPr/>
          <p:nvPr/>
        </p:nvSpPr>
        <p:spPr>
          <a:xfrm>
            <a:off x="457200" y="4983480"/>
            <a:ext cx="2926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6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896112" y="4937760"/>
            <a:ext cx="7498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8D0E0"/>
                </a:solidFill>
              </a:rPr>
              <a:t>If opening a new restaurant, consider Tier-2 cities — less competition, higher average ratings.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457200" y="5669280"/>
            <a:ext cx="292608" cy="292608"/>
          </a:xfrm>
          <a:prstGeom prst="ellipse">
            <a:avLst/>
          </a:prstGeom>
          <a:solidFill>
            <a:srgbClr val="E23744"/>
          </a:solidFill>
          <a:ln/>
        </p:spPr>
      </p:sp>
      <p:sp>
        <p:nvSpPr>
          <p:cNvPr id="24" name="Text 22"/>
          <p:cNvSpPr/>
          <p:nvPr/>
        </p:nvSpPr>
        <p:spPr>
          <a:xfrm>
            <a:off x="457200" y="5650992"/>
            <a:ext cx="2926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7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896112" y="5605272"/>
            <a:ext cx="7498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8D0E0"/>
                </a:solidFill>
              </a:rPr>
              <a:t>Price moderately or higher. Budget works, but Luxury scores 4.41 ★ vs Budget's 3.65 ★.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8869680" y="109728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Bottom Line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8961120" y="1554480"/>
            <a:ext cx="2834640" cy="36576"/>
          </a:xfrm>
          <a:prstGeom prst="rect">
            <a:avLst/>
          </a:prstGeom>
          <a:solidFill>
            <a:srgbClr val="FFFFFF">
              <a:alpha val="50000"/>
            </a:srgbClr>
          </a:solidFill>
          <a:ln/>
        </p:spPr>
      </p:sp>
      <p:sp>
        <p:nvSpPr>
          <p:cNvPr id="28" name="Text 26"/>
          <p:cNvSpPr/>
          <p:nvPr/>
        </p:nvSpPr>
        <p:spPr>
          <a:xfrm>
            <a:off x="8823960" y="1691640"/>
            <a:ext cx="310896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FFFFFF"/>
                </a:solidFill>
              </a:rPr>
              <a:t>A restaurant's success on Zomato is not random. It comes from a combination of comfort, convenience, digital presence, and consistent quality.</a:t>
            </a:r>
            <a:endParaRPr lang="en-US" sz="1200" dirty="0"/>
          </a:p>
          <a:p>
            <a:pPr algn="ctr" indent="0" marL="0">
              <a:lnSpc>
                <a:spcPct val="150000"/>
              </a:lnSpc>
              <a:buNone/>
            </a:pPr>
            <a:endParaRPr lang="en-US" sz="12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FFFFFF"/>
                </a:solidFill>
              </a:rPr>
              <a:t>The data is clear — the restaurants that invest in these areas consistently outperform those that don't.</a:t>
            </a:r>
            <a:endParaRPr lang="en-US" sz="1200" dirty="0"/>
          </a:p>
        </p:txBody>
      </p:sp>
      <p:pic>
        <p:nvPicPr>
          <p:cNvPr id="2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84080" y="5029200"/>
            <a:ext cx="1188720" cy="118872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C1C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0" cy="6858000"/>
          </a:xfrm>
          <a:prstGeom prst="rect">
            <a:avLst/>
          </a:prstGeom>
          <a:solidFill>
            <a:srgbClr val="E23744"/>
          </a:solidFill>
          <a:ln/>
        </p:spPr>
      </p:sp>
      <p:sp>
        <p:nvSpPr>
          <p:cNvPr id="3" name="Shape 1"/>
          <p:cNvSpPr/>
          <p:nvPr/>
        </p:nvSpPr>
        <p:spPr>
          <a:xfrm>
            <a:off x="3474720" y="0"/>
            <a:ext cx="731520" cy="6858000"/>
          </a:xfrm>
          <a:prstGeom prst="rect">
            <a:avLst/>
          </a:prstGeom>
          <a:solidFill>
            <a:srgbClr val="B52D38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88720" y="1097280"/>
            <a:ext cx="1645920" cy="16459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74320" y="292608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THANK YOU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274320" y="352044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D0D4"/>
                </a:solidFill>
              </a:rPr>
              <a:t>for your attention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4754880" y="1371600"/>
            <a:ext cx="6858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Shivam Yadav</a:t>
            </a:r>
            <a:endParaRPr lang="en-US" sz="3200" dirty="0"/>
          </a:p>
        </p:txBody>
      </p:sp>
      <p:sp>
        <p:nvSpPr>
          <p:cNvPr id="8" name="Text 5"/>
          <p:cNvSpPr/>
          <p:nvPr/>
        </p:nvSpPr>
        <p:spPr>
          <a:xfrm>
            <a:off x="4754880" y="2084832"/>
            <a:ext cx="6858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A623"/>
                </a:solidFill>
              </a:rPr>
              <a:t>Data Analytics Project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4754880" y="2578608"/>
            <a:ext cx="4572000" cy="36576"/>
          </a:xfrm>
          <a:prstGeom prst="rect">
            <a:avLst/>
          </a:prstGeom>
          <a:solidFill>
            <a:srgbClr val="FFFFFF">
              <a:alpha val="35000"/>
            </a:srgbClr>
          </a:solidFill>
          <a:ln/>
        </p:spPr>
      </p:sp>
      <p:sp>
        <p:nvSpPr>
          <p:cNvPr id="10" name="Text 7"/>
          <p:cNvSpPr/>
          <p:nvPr/>
        </p:nvSpPr>
        <p:spPr>
          <a:xfrm>
            <a:off x="4754880" y="2743200"/>
            <a:ext cx="6858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5000"/>
              </a:lnSpc>
              <a:buNone/>
            </a:pPr>
            <a:r>
              <a:rPr lang="en-US" sz="1300" dirty="0">
                <a:solidFill>
                  <a:srgbClr val="C8D0E0"/>
                </a:solidFill>
              </a:rPr>
              <a:t>Zomato Restaurant Success Factors Analysis</a:t>
            </a:r>
            <a:endParaRPr lang="en-US" sz="1300" dirty="0"/>
          </a:p>
          <a:p>
            <a:pPr indent="0" marL="0">
              <a:lnSpc>
                <a:spcPct val="155000"/>
              </a:lnSpc>
              <a:buNone/>
            </a:pPr>
            <a:r>
              <a:rPr lang="en-US" sz="1300" dirty="0">
                <a:solidFill>
                  <a:srgbClr val="C8D0E0"/>
                </a:solidFill>
              </a:rPr>
              <a:t>Exploratory Data Analysis — Indian Restaurants Dataset</a:t>
            </a:r>
            <a:endParaRPr lang="en-US" sz="1300" dirty="0"/>
          </a:p>
          <a:p>
            <a:pPr indent="0" marL="0">
              <a:lnSpc>
                <a:spcPct val="155000"/>
              </a:lnSpc>
              <a:buNone/>
            </a:pPr>
            <a:r>
              <a:rPr lang="en-US" sz="1300" dirty="0">
                <a:solidFill>
                  <a:srgbClr val="C8D0E0"/>
                </a:solidFill>
              </a:rPr>
              <a:t>SkillCircle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4754880" y="4114800"/>
            <a:ext cx="1664208" cy="1371600"/>
          </a:xfrm>
          <a:prstGeom prst="rect">
            <a:avLst/>
          </a:prstGeom>
          <a:solidFill>
            <a:srgbClr val="FFFFFF">
              <a:alpha val="12000"/>
            </a:srgbClr>
          </a:solidFill>
          <a:ln/>
        </p:spPr>
      </p:sp>
      <p:sp>
        <p:nvSpPr>
          <p:cNvPr id="12" name="Text 9"/>
          <p:cNvSpPr/>
          <p:nvPr/>
        </p:nvSpPr>
        <p:spPr>
          <a:xfrm>
            <a:off x="4754880" y="4187952"/>
            <a:ext cx="16642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5A623"/>
                </a:solidFill>
              </a:rPr>
              <a:t>2,11,944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4754880" y="4791456"/>
            <a:ext cx="166420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8D0E0"/>
                </a:solidFill>
              </a:rPr>
              <a:t>Restaurants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6565392" y="4114800"/>
            <a:ext cx="1664208" cy="1371600"/>
          </a:xfrm>
          <a:prstGeom prst="rect">
            <a:avLst/>
          </a:prstGeom>
          <a:solidFill>
            <a:srgbClr val="FFFFFF">
              <a:alpha val="12000"/>
            </a:srgbClr>
          </a:solidFill>
          <a:ln/>
        </p:spPr>
      </p:sp>
      <p:sp>
        <p:nvSpPr>
          <p:cNvPr id="15" name="Text 12"/>
          <p:cNvSpPr/>
          <p:nvPr/>
        </p:nvSpPr>
        <p:spPr>
          <a:xfrm>
            <a:off x="6565392" y="4187952"/>
            <a:ext cx="16642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5A623"/>
                </a:solidFill>
              </a:rPr>
              <a:t>14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6565392" y="4791456"/>
            <a:ext cx="166420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8D0E0"/>
                </a:solidFill>
              </a:rPr>
              <a:t>Slides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8375904" y="4114800"/>
            <a:ext cx="1664208" cy="1371600"/>
          </a:xfrm>
          <a:prstGeom prst="rect">
            <a:avLst/>
          </a:prstGeom>
          <a:solidFill>
            <a:srgbClr val="FFFFFF">
              <a:alpha val="12000"/>
            </a:srgbClr>
          </a:solidFill>
          <a:ln/>
        </p:spPr>
      </p:sp>
      <p:sp>
        <p:nvSpPr>
          <p:cNvPr id="18" name="Text 15"/>
          <p:cNvSpPr/>
          <p:nvPr/>
        </p:nvSpPr>
        <p:spPr>
          <a:xfrm>
            <a:off x="8375904" y="4187952"/>
            <a:ext cx="16642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5A623"/>
                </a:solidFill>
              </a:rPr>
              <a:t>6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8375904" y="4791456"/>
            <a:ext cx="166420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8D0E0"/>
                </a:solidFill>
              </a:rPr>
              <a:t>Key Insights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10186416" y="4114800"/>
            <a:ext cx="1664208" cy="1371600"/>
          </a:xfrm>
          <a:prstGeom prst="rect">
            <a:avLst/>
          </a:prstGeom>
          <a:solidFill>
            <a:srgbClr val="FFFFFF">
              <a:alpha val="12000"/>
            </a:srgbClr>
          </a:solidFill>
          <a:ln/>
        </p:spPr>
      </p:sp>
      <p:sp>
        <p:nvSpPr>
          <p:cNvPr id="21" name="Text 18"/>
          <p:cNvSpPr/>
          <p:nvPr/>
        </p:nvSpPr>
        <p:spPr>
          <a:xfrm>
            <a:off x="10186416" y="4187952"/>
            <a:ext cx="16642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5A623"/>
                </a:solidFill>
              </a:rPr>
              <a:t>7</a:t>
            </a:r>
            <a:endParaRPr lang="en-US" sz="1800" dirty="0"/>
          </a:p>
        </p:txBody>
      </p:sp>
      <p:sp>
        <p:nvSpPr>
          <p:cNvPr id="22" name="Text 19"/>
          <p:cNvSpPr/>
          <p:nvPr/>
        </p:nvSpPr>
        <p:spPr>
          <a:xfrm>
            <a:off x="10186416" y="4791456"/>
            <a:ext cx="166420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8D0E0"/>
                </a:solidFill>
              </a:rPr>
              <a:t>Recommendations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4754880" y="5760720"/>
            <a:ext cx="7040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07080"/>
                </a:solidFill>
              </a:rPr>
              <a:t>Dataset: Zomato Indian Restaurants  |  Tool: Python (Pandas, Seaborn, Plotly)  |  Presentation: PowerPoint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Zomato Restaurant Success Factors Analysis</dc:title>
  <dc:subject>PptxGenJS Presentation</dc:subject>
  <dc:creator>Shivam Yadav</dc:creator>
  <cp:lastModifiedBy>Shivam Yadav</cp:lastModifiedBy>
  <cp:revision>1</cp:revision>
  <dcterms:created xsi:type="dcterms:W3CDTF">2026-04-18T21:37:49Z</dcterms:created>
  <dcterms:modified xsi:type="dcterms:W3CDTF">2026-04-18T21:37:49Z</dcterms:modified>
</cp:coreProperties>
</file>